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Baker" userId="488f122d-72cc-4670-ae96-4ea2a6611a9b" providerId="ADAL" clId="{7F09B3E0-E943-42C4-8942-72E4410BAC3B}"/>
    <pc:docChg chg="custSel modSld">
      <pc:chgData name="David Baker" userId="488f122d-72cc-4670-ae96-4ea2a6611a9b" providerId="ADAL" clId="{7F09B3E0-E943-42C4-8942-72E4410BAC3B}" dt="2026-05-19T11:04:50.969" v="43" actId="1076"/>
      <pc:docMkLst>
        <pc:docMk/>
      </pc:docMkLst>
      <pc:sldChg chg="delSp modSp mod">
        <pc:chgData name="David Baker" userId="488f122d-72cc-4670-ae96-4ea2a6611a9b" providerId="ADAL" clId="{7F09B3E0-E943-42C4-8942-72E4410BAC3B}" dt="2026-05-19T11:04:50.969" v="43" actId="1076"/>
        <pc:sldMkLst>
          <pc:docMk/>
          <pc:sldMk cId="0" sldId="261"/>
        </pc:sldMkLst>
        <pc:spChg chg="mod">
          <ac:chgData name="David Baker" userId="488f122d-72cc-4670-ae96-4ea2a6611a9b" providerId="ADAL" clId="{7F09B3E0-E943-42C4-8942-72E4410BAC3B}" dt="2026-05-19T11:04:30.435" v="38" actId="14100"/>
          <ac:spMkLst>
            <pc:docMk/>
            <pc:sldMk cId="0" sldId="261"/>
            <ac:spMk id="13" creationId="{00000000-0000-0000-0000-000000000000}"/>
          </ac:spMkLst>
        </pc:spChg>
        <pc:spChg chg="mod">
          <ac:chgData name="David Baker" userId="488f122d-72cc-4670-ae96-4ea2a6611a9b" providerId="ADAL" clId="{7F09B3E0-E943-42C4-8942-72E4410BAC3B}" dt="2026-05-19T11:04:47.919" v="42" actId="255"/>
          <ac:spMkLst>
            <pc:docMk/>
            <pc:sldMk cId="0" sldId="261"/>
            <ac:spMk id="16" creationId="{00000000-0000-0000-0000-000000000000}"/>
          </ac:spMkLst>
        </pc:spChg>
        <pc:spChg chg="mod">
          <ac:chgData name="David Baker" userId="488f122d-72cc-4670-ae96-4ea2a6611a9b" providerId="ADAL" clId="{7F09B3E0-E943-42C4-8942-72E4410BAC3B}" dt="2026-05-19T11:04:50.969" v="43" actId="1076"/>
          <ac:spMkLst>
            <pc:docMk/>
            <pc:sldMk cId="0" sldId="261"/>
            <ac:spMk id="17" creationId="{00000000-0000-0000-0000-000000000000}"/>
          </ac:spMkLst>
        </pc:spChg>
        <pc:spChg chg="del">
          <ac:chgData name="David Baker" userId="488f122d-72cc-4670-ae96-4ea2a6611a9b" providerId="ADAL" clId="{7F09B3E0-E943-42C4-8942-72E4410BAC3B}" dt="2026-05-19T11:04:07.417" v="6" actId="478"/>
          <ac:spMkLst>
            <pc:docMk/>
            <pc:sldMk cId="0" sldId="261"/>
            <ac:spMk id="19" creationId="{00000000-0000-0000-0000-000000000000}"/>
          </ac:spMkLst>
        </pc:spChg>
        <pc:spChg chg="del">
          <ac:chgData name="David Baker" userId="488f122d-72cc-4670-ae96-4ea2a6611a9b" providerId="ADAL" clId="{7F09B3E0-E943-42C4-8942-72E4410BAC3B}" dt="2026-05-19T11:04:07.417" v="6" actId="478"/>
          <ac:spMkLst>
            <pc:docMk/>
            <pc:sldMk cId="0" sldId="261"/>
            <ac:spMk id="25" creationId="{00000000-0000-0000-0000-000000000000}"/>
          </ac:spMkLst>
        </pc:spChg>
        <pc:spChg chg="del">
          <ac:chgData name="David Baker" userId="488f122d-72cc-4670-ae96-4ea2a6611a9b" providerId="ADAL" clId="{7F09B3E0-E943-42C4-8942-72E4410BAC3B}" dt="2026-05-19T11:04:07.417" v="6" actId="478"/>
          <ac:spMkLst>
            <pc:docMk/>
            <pc:sldMk cId="0" sldId="261"/>
            <ac:spMk id="31" creationId="{00000000-0000-0000-0000-000000000000}"/>
          </ac:spMkLst>
        </pc:spChg>
        <pc:spChg chg="del">
          <ac:chgData name="David Baker" userId="488f122d-72cc-4670-ae96-4ea2a6611a9b" providerId="ADAL" clId="{7F09B3E0-E943-42C4-8942-72E4410BAC3B}" dt="2026-05-19T11:04:07.417" v="6" actId="478"/>
          <ac:spMkLst>
            <pc:docMk/>
            <pc:sldMk cId="0" sldId="261"/>
            <ac:spMk id="37" creationId="{00000000-0000-0000-0000-000000000000}"/>
          </ac:spMkLst>
        </pc:spChg>
        <pc:spChg chg="del">
          <ac:chgData name="David Baker" userId="488f122d-72cc-4670-ae96-4ea2a6611a9b" providerId="ADAL" clId="{7F09B3E0-E943-42C4-8942-72E4410BAC3B}" dt="2026-05-19T11:04:07.417" v="6" actId="478"/>
          <ac:spMkLst>
            <pc:docMk/>
            <pc:sldMk cId="0" sldId="261"/>
            <ac:spMk id="43" creationId="{00000000-0000-0000-0000-000000000000}"/>
          </ac:spMkLst>
        </pc:spChg>
        <pc:spChg chg="del">
          <ac:chgData name="David Baker" userId="488f122d-72cc-4670-ae96-4ea2a6611a9b" providerId="ADAL" clId="{7F09B3E0-E943-42C4-8942-72E4410BAC3B}" dt="2026-05-19T11:04:07.417" v="6" actId="478"/>
          <ac:spMkLst>
            <pc:docMk/>
            <pc:sldMk cId="0" sldId="261"/>
            <ac:spMk id="49" creationId="{00000000-0000-0000-0000-000000000000}"/>
          </ac:spMkLst>
        </pc:spChg>
        <pc:picChg chg="mod">
          <ac:chgData name="David Baker" userId="488f122d-72cc-4670-ae96-4ea2a6611a9b" providerId="ADAL" clId="{7F09B3E0-E943-42C4-8942-72E4410BAC3B}" dt="2026-05-19T11:04:23.977" v="36" actId="14100"/>
          <ac:picMkLst>
            <pc:docMk/>
            <pc:sldMk cId="0" sldId="261"/>
            <ac:picMk id="14" creationId="{00000000-0000-0000-0000-000000000000}"/>
          </ac:picMkLst>
        </pc:picChg>
        <pc:cxnChg chg="del">
          <ac:chgData name="David Baker" userId="488f122d-72cc-4670-ae96-4ea2a6611a9b" providerId="ADAL" clId="{7F09B3E0-E943-42C4-8942-72E4410BAC3B}" dt="2026-05-19T11:03:57.361" v="0" actId="478"/>
          <ac:cxnSpMkLst>
            <pc:docMk/>
            <pc:sldMk cId="0" sldId="261"/>
            <ac:cxnSpMk id="18" creationId="{00000000-0000-0000-0000-000000000000}"/>
          </ac:cxnSpMkLst>
        </pc:cxnChg>
        <pc:cxnChg chg="del">
          <ac:chgData name="David Baker" userId="488f122d-72cc-4670-ae96-4ea2a6611a9b" providerId="ADAL" clId="{7F09B3E0-E943-42C4-8942-72E4410BAC3B}" dt="2026-05-19T11:03:58.486" v="1" actId="478"/>
          <ac:cxnSpMkLst>
            <pc:docMk/>
            <pc:sldMk cId="0" sldId="261"/>
            <ac:cxnSpMk id="24" creationId="{00000000-0000-0000-0000-000000000000}"/>
          </ac:cxnSpMkLst>
        </pc:cxnChg>
        <pc:cxnChg chg="del">
          <ac:chgData name="David Baker" userId="488f122d-72cc-4670-ae96-4ea2a6611a9b" providerId="ADAL" clId="{7F09B3E0-E943-42C4-8942-72E4410BAC3B}" dt="2026-05-19T11:03:59.361" v="2" actId="478"/>
          <ac:cxnSpMkLst>
            <pc:docMk/>
            <pc:sldMk cId="0" sldId="261"/>
            <ac:cxnSpMk id="30" creationId="{00000000-0000-0000-0000-000000000000}"/>
          </ac:cxnSpMkLst>
        </pc:cxnChg>
        <pc:cxnChg chg="del">
          <ac:chgData name="David Baker" userId="488f122d-72cc-4670-ae96-4ea2a6611a9b" providerId="ADAL" clId="{7F09B3E0-E943-42C4-8942-72E4410BAC3B}" dt="2026-05-19T11:04:02.062" v="5" actId="478"/>
          <ac:cxnSpMkLst>
            <pc:docMk/>
            <pc:sldMk cId="0" sldId="261"/>
            <ac:cxnSpMk id="36" creationId="{00000000-0000-0000-0000-000000000000}"/>
          </ac:cxnSpMkLst>
        </pc:cxnChg>
        <pc:cxnChg chg="del">
          <ac:chgData name="David Baker" userId="488f122d-72cc-4670-ae96-4ea2a6611a9b" providerId="ADAL" clId="{7F09B3E0-E943-42C4-8942-72E4410BAC3B}" dt="2026-05-19T11:04:01.207" v="4" actId="478"/>
          <ac:cxnSpMkLst>
            <pc:docMk/>
            <pc:sldMk cId="0" sldId="261"/>
            <ac:cxnSpMk id="42" creationId="{00000000-0000-0000-0000-000000000000}"/>
          </ac:cxnSpMkLst>
        </pc:cxnChg>
        <pc:cxnChg chg="del">
          <ac:chgData name="David Baker" userId="488f122d-72cc-4670-ae96-4ea2a6611a9b" providerId="ADAL" clId="{7F09B3E0-E943-42C4-8942-72E4410BAC3B}" dt="2026-05-19T11:04:00.420" v="3" actId="478"/>
          <ac:cxnSpMkLst>
            <pc:docMk/>
            <pc:sldMk cId="0" sldId="261"/>
            <ac:cxnSpMk id="48" creationId="{00000000-0000-0000-0000-00000000000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3" Type="http://schemas.openxmlformats.org/officeDocument/2006/relationships/image" Target="../media/image2.jpg" /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ns0:Relationship Id="rId4" Type="http://schemas.openxmlformats.org/officeDocument/2006/relationships/image" Target="../media/parlayvu_hero_background.png" /></ns0:Relationships>
</file>

<file path=ppt/slides/_rels/slide2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ns0:Relationship Id="rId3" Type="http://schemas.openxmlformats.org/officeDocument/2006/relationships/image" Target="../media/parlayvu_hero_background.png" /></ns0:Relationships>
</file>

<file path=ppt/slides/_rels/slide3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ns0:Relationship Id="rId3" Type="http://schemas.openxmlformats.org/officeDocument/2006/relationships/image" Target="../media/parlayvu_hero_background.png" /></ns0:Relationships>
</file>

<file path=ppt/slides/_rels/slide4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ns0:Relationship Id="rId3" Type="http://schemas.openxmlformats.org/officeDocument/2006/relationships/image" Target="../media/parlayvu_hero_background.png" /></ns0:Relationships>
</file>

<file path=ppt/slides/_rels/slide5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ns0:Relationship Id="rId3" Type="http://schemas.openxmlformats.org/officeDocument/2006/relationships/image" Target="../media/parlayvu_hero_background.png" /></ns0:Relationships>
</file>

<file path=ppt/slides/_rels/slide6.xml.rels><?xml version='1.0' encoding='utf-8'?>
<ns0:Relationships xmlns:ns0="http://schemas.openxmlformats.org/package/2006/relationships"><ns0:Relationship Id="rId3" Type="http://schemas.openxmlformats.org/officeDocument/2006/relationships/image" Target="../media/image3.jpg" /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ns0:Relationship Id="rId4" Type="http://schemas.openxmlformats.org/officeDocument/2006/relationships/image" Target="../media/parlayvu_hero_background.png" /></ns0:Relationships>
</file>

<file path=ppt/slides/_rels/slide7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ns0:Relationship Id="rId3" Type="http://schemas.openxmlformats.org/officeDocument/2006/relationships/image" Target="../media/parlayvu_hero_background.png" /></ns0:Relationships>
</file>

<file path=ppt/slides/_rels/slide8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ns0:Relationship Id="rId3" Type="http://schemas.openxmlformats.org/officeDocument/2006/relationships/image" Target="../media/parlayvu_hero_background.png" /></ns0:Relationships>
</file>

<file path=ppt/slides/_rels/slide9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ns0:Relationship Id="rId3" Type="http://schemas.openxmlformats.org/officeDocument/2006/relationships/image" Target="../media/parlayvu_hero_background.png" /></ns0:Relationships>
</file>

<file path=ppt/slides/_rels/slide10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ns0:Relationship Id="rId3" Type="http://schemas.openxmlformats.org/officeDocument/2006/relationships/image" Target="../media/parlayvu_hero_background.png" /></ns0:Relationships>
</file>

<file path=ppt/slides/_rels/slide11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ns0:Relationship Id="rId3" Type="http://schemas.openxmlformats.org/officeDocument/2006/relationships/image" Target="../media/parlayvu_hero_background.png" /></ns0:Relationships>
</file>

<file path=ppt/slides/_rels/slide12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ns0:Relationship Id="rId3" Type="http://schemas.openxmlformats.org/officeDocument/2006/relationships/image" Target="../media/parlayvu_hero_background.png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502920"/>
            <a:ext cx="2194560" cy="21945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4892040"/>
            <a:ext cx="1508760" cy="150876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4048" y="5148072"/>
            <a:ext cx="249631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4048" y="5257800"/>
            <a:ext cx="368503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5367528"/>
            <a:ext cx="523036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30859" y="5193792"/>
            <a:ext cx="65379" cy="65379"/>
          </a:xfrm>
          <a:prstGeom prst="ellipse">
            <a:avLst/>
          </a:prstGeom>
          <a:solidFill>
            <a:srgbClr val="48E0D0"/>
          </a:solidFill>
          <a:ln w="952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0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1">
                <a:solidFill>
                  <a:srgbClr val="48E0D0"/>
                </a:solidFill>
                <a:latin typeface="Inter"/>
              </a:defRPr>
            </a:pPr>
            <a:r>
              <a:t>ANGEL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8431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0">
                <a:solidFill>
                  <a:srgbClr val="A6B6CA">
                    <a:alpha val="72000"/>
                  </a:srgbClr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1663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0">
                <a:solidFill>
                  <a:srgbClr val="A6B6CA">
                    <a:alpha val="72000"/>
                  </a:srgbClr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54895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0">
                <a:solidFill>
                  <a:srgbClr val="A6B6CA">
                    <a:alpha val="72000"/>
                  </a:srgbClr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1042415"/>
            <a:ext cx="4389120" cy="190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40" b="1">
                <a:solidFill>
                  <a:srgbClr val="48E0D0"/>
                </a:solidFill>
                <a:latin typeface="Inter"/>
              </a:defRPr>
            </a:pPr>
            <a:r>
              <a:t>ANGEL / PRE-SEED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350" b="1">
                <a:solidFill>
                  <a:srgbClr val="F7FBFF"/>
                </a:solidFill>
                <a:latin typeface="Inter"/>
              </a:defRPr>
            </a:pPr>
            <a:r>
              <a:t>AI digital workers for client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852928"/>
            <a:ext cx="5120640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50" b="0">
                <a:solidFill>
                  <a:srgbClr val="C8D6E5"/>
                </a:solidFill>
                <a:latin typeface="Inter"/>
              </a:defRPr>
            </a:pPr>
            <a:r>
              <a:t>ParlayVU turns meetings, source material, approvals, and follow-up into an operating system for expert firms.</a:t>
            </a:r>
          </a:p>
        </p:txBody>
      </p:sp>
      <p:sp>
        <p:nvSpPr>
          <p:cNvPr id="17" name="Rounded Rectangle 16"/>
          <p:cNvSpPr/>
          <p:nvPr/>
        </p:nvSpPr>
        <p:spPr>
          <a:solidFill>
            <a:srgbClr val="48E0D0">
              <a:alpha val="93000"/>
            </a:srgbClr>
          </a:solidFill>
          <a:xfrm>
            <a:off x="713232" y="3703320"/>
            <a:ext cx="1572768" cy="381000"/>
          </a:xfrm>
          <a:prstGeom prst="roundRect">
            <a:avLst/>
          </a:prstGeom>
          <a:ln w="11430">
            <a:solidFill>
              <a:srgbClr val="48E0D0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mid" lIns="104775" rIns="104775" tIns="85725" bIns="85725"/>
          <a:lstStyle/>
          <a:p>
            <a:pPr algn="ctr">
              <a:defRPr sz="950" b="1">
                <a:solidFill>
                  <a:srgbClr val="061423"/>
                </a:solidFill>
                <a:latin typeface="Inter"/>
              </a:defRPr>
            </a:pPr>
            <a:r>
              <a:t>$100k-$300k raise</a:t>
            </a:r>
          </a:p>
        </p:txBody>
      </p:sp>
      <p:sp>
        <p:nvSpPr>
          <p:cNvPr id="18" name="Rounded Rectangle 17"/>
          <p:cNvSpPr/>
          <p:nvPr/>
        </p:nvSpPr>
        <p:spPr>
          <a:solidFill>
            <a:srgbClr val="102942">
              <a:alpha val="82000"/>
            </a:srgbClr>
          </a:solidFill>
          <a:xfrm>
            <a:off x="2487168" y="3703320"/>
            <a:ext cx="2011680" cy="381000"/>
          </a:xfrm>
          <a:prstGeom prst="roundRect">
            <a:avLst/>
          </a:prstGeom>
          <a:ln w="11430">
            <a:solidFill>
              <a:srgbClr val="375F79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mid" lIns="104775" rIns="104775" tIns="85725" bIns="85725"/>
          <a:lstStyle/>
          <a:p>
            <a:pPr algn="ctr">
              <a:defRPr sz="980" b="1">
                <a:solidFill>
                  <a:srgbClr val="F7FBFF"/>
                </a:solidFill>
                <a:latin typeface="Inter"/>
              </a:defRPr>
            </a:pPr>
            <a:r>
              <a:t>Teams/M365 beachhead</a:t>
            </a:r>
          </a:p>
        </p:txBody>
      </p:sp>
      <p:sp>
        <p:nvSpPr>
          <p:cNvPr id="19" name="Rounded Rectangle 18"/>
          <p:cNvSpPr/>
          <p:nvPr/>
        </p:nvSpPr>
        <p:spPr>
          <a:solidFill>
            <a:srgbClr val="102942">
              <a:alpha val="82000"/>
            </a:srgbClr>
          </a:solidFill>
          <a:xfrm>
            <a:off x="4736592" y="3703320"/>
            <a:ext cx="1645920" cy="381000"/>
          </a:xfrm>
          <a:prstGeom prst="roundRect">
            <a:avLst/>
          </a:prstGeom>
          <a:ln w="11430">
            <a:solidFill>
              <a:srgbClr val="375F79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mid" lIns="104775" rIns="104775" tIns="85725" bIns="85725"/>
          <a:lstStyle/>
          <a:p>
            <a:pPr algn="ctr">
              <a:defRPr sz="980" b="1">
                <a:solidFill>
                  <a:srgbClr val="F7FBFF"/>
                </a:solidFill>
                <a:latin typeface="Inter"/>
              </a:defRPr>
            </a:pPr>
            <a:r>
              <a:t>RamAir proof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1115568"/>
            <a:ext cx="3337560" cy="318211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Nath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115568"/>
            <a:ext cx="3337560" cy="184562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470648" y="3088477"/>
            <a:ext cx="2935224" cy="171450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870" b="0">
                <a:solidFill>
                  <a:srgbClr val="C8D6E5"/>
                </a:solidFill>
                <a:latin typeface="Inter"/>
              </a:defRPr>
            </a:pPr>
            <a:r>
              <a:t>LEAD ORCHESTRATOR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0648" y="3406688"/>
            <a:ext cx="2935224" cy="310896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700" b="1">
                <a:solidFill>
                  <a:srgbClr val="F7FBFF"/>
                </a:solidFill>
                <a:latin typeface="Inter"/>
              </a:defRPr>
            </a:pPr>
            <a:r>
              <a:t>Nathan Ellis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936" y="3852184"/>
            <a:ext cx="2898648" cy="384048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870" b="0">
                <a:solidFill>
                  <a:srgbClr val="C8D6E5"/>
                </a:solidFill>
                <a:latin typeface="Inter"/>
              </a:defRPr>
            </a:pPr>
            <a:r>
              <a:t>Coordinates strategy, agent routing, approval gates, and final delivery.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5166360"/>
            <a:ext cx="3017520" cy="384048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 algn="ctr">
              <a:defRPr sz="1700" b="1">
                <a:solidFill>
                  <a:srgbClr val="F7FBFF"/>
                </a:solidFill>
                <a:latin typeface="Inter"/>
              </a:defRPr>
            </a:pPr>
            <a:r>
              <a:t>VU is your brand. Parlay your VU.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46520"/>
            <a:ext cx="3657600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80" b="0">
                <a:solidFill>
                  <a:srgbClr val="A6B6CA">
                    <a:alpha val="84000"/>
                  </a:srgbClr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46520"/>
            <a:ext cx="777240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80" b="0">
                <a:solidFill>
                  <a:srgbClr val="A6B6CA">
                    <a:alpha val="84000"/>
                  </a:srgbClr>
                </a:solidFill>
                <a:latin typeface="Inter"/>
              </a:defRPr>
            </a:pPr>
            <a:r>
              <a:t>01/12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502920"/>
            <a:ext cx="2194560" cy="2194560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4892040"/>
            <a:ext cx="1508760" cy="150876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41280" y="393192"/>
            <a:ext cx="345643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9D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241280" y="502920"/>
            <a:ext cx="510235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9D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241280" y="612647"/>
            <a:ext cx="724204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9D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98403" y="484632"/>
            <a:ext cx="90525" cy="90525"/>
          </a:xfrm>
          <a:prstGeom prst="ellipse">
            <a:avLst/>
          </a:prstGeom>
          <a:solidFill>
            <a:srgbClr val="9D7BFF"/>
          </a:solidFill>
          <a:ln w="9525">
            <a:solidFill>
              <a:srgbClr val="9D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0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1">
                <a:solidFill>
                  <a:srgbClr val="48E0D0"/>
                </a:solidFill>
                <a:latin typeface="Inter"/>
              </a:defRPr>
            </a:pPr>
            <a: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8431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0">
                <a:solidFill>
                  <a:srgbClr val="A6B6CA">
                    <a:alpha val="72000"/>
                  </a:srgbClr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1663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0">
                <a:solidFill>
                  <a:srgbClr val="A6B6CA">
                    <a:alpha val="72000"/>
                  </a:srgbClr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54895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0">
                <a:solidFill>
                  <a:srgbClr val="A6B6CA">
                    <a:alpha val="72000"/>
                  </a:srgbClr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1042415"/>
            <a:ext cx="4389120" cy="190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40" b="1">
                <a:solidFill>
                  <a:srgbClr val="48E0D0"/>
                </a:solidFill>
                <a:latin typeface="Inter"/>
              </a:defRPr>
            </a:pPr>
            <a:r>
              <a:t>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350" b="1">
                <a:solidFill>
                  <a:srgbClr val="F7FBFF"/>
                </a:solidFill>
                <a:latin typeface="Inter"/>
              </a:defRPr>
            </a:pPr>
            <a:r>
              <a:t>Client work leaks margin after every call.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852928"/>
            <a:ext cx="5120640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50" b="0">
                <a:solidFill>
                  <a:srgbClr val="C8D6E5"/>
                </a:solidFill>
                <a:latin typeface="Inter"/>
              </a:defRPr>
            </a:pPr>
            <a:r>
              <a:t>Generic AI drafts assets. Expert firms still need the whole workflow coordinated.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1768" y="2514600"/>
            <a:ext cx="211226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9D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01768" y="2624328"/>
            <a:ext cx="311810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9D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01768" y="2734056"/>
            <a:ext cx="442569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9D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464454" y="2542032"/>
            <a:ext cx="55321" cy="55321"/>
          </a:xfrm>
          <a:prstGeom prst="ellipse">
            <a:avLst/>
          </a:prstGeom>
          <a:solidFill>
            <a:srgbClr val="9D7BFF"/>
          </a:solidFill>
          <a:ln w="9525">
            <a:solidFill>
              <a:srgbClr val="9D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074920" y="2871216"/>
            <a:ext cx="73152" cy="73152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5111496" y="2907792"/>
            <a:ext cx="0" cy="347472"/>
          </a:xfrm>
          <a:prstGeom prst="line">
            <a:avLst/>
          </a:prstGeom>
          <a:ln w="11430">
            <a:solidFill>
              <a:srgbClr val="9D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21224" y="2852928"/>
            <a:ext cx="1005840" cy="171450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870" b="0">
                <a:solidFill>
                  <a:srgbClr val="C8D6E5"/>
                </a:solidFill>
                <a:latin typeface="Inter"/>
              </a:defRPr>
            </a:pPr>
            <a:r>
              <a:t>Meetings</a:t>
            </a:r>
          </a:p>
        </p:txBody>
      </p:sp>
      <p:sp>
        <p:nvSpPr>
          <p:cNvPr id="24" name="Oval 23"/>
          <p:cNvSpPr/>
          <p:nvPr/>
        </p:nvSpPr>
        <p:spPr>
          <a:xfrm>
            <a:off x="5074920" y="3218688"/>
            <a:ext cx="73152" cy="73152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111496" y="3255264"/>
            <a:ext cx="0" cy="347472"/>
          </a:xfrm>
          <a:prstGeom prst="line">
            <a:avLst/>
          </a:prstGeom>
          <a:ln w="11430">
            <a:solidFill>
              <a:srgbClr val="9D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221224" y="3200400"/>
            <a:ext cx="1005840" cy="171450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870" b="0">
                <a:solidFill>
                  <a:srgbClr val="C8D6E5"/>
                </a:solidFill>
                <a:latin typeface="Inter"/>
              </a:defRPr>
            </a:pPr>
            <a:r>
              <a:t>Memory</a:t>
            </a:r>
          </a:p>
        </p:txBody>
      </p:sp>
      <p:sp>
        <p:nvSpPr>
          <p:cNvPr id="27" name="Oval 26"/>
          <p:cNvSpPr/>
          <p:nvPr/>
        </p:nvSpPr>
        <p:spPr>
          <a:xfrm>
            <a:off x="5074920" y="3566160"/>
            <a:ext cx="73152" cy="73152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" name="Connector 27"/>
          <p:cNvCxnSpPr/>
          <p:nvPr/>
        </p:nvCxnSpPr>
        <p:spPr>
          <a:xfrm>
            <a:off x="5111496" y="3602736"/>
            <a:ext cx="0" cy="347472"/>
          </a:xfrm>
          <a:prstGeom prst="line">
            <a:avLst/>
          </a:prstGeom>
          <a:ln w="11430">
            <a:solidFill>
              <a:srgbClr val="9D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221224" y="3547872"/>
            <a:ext cx="1005840" cy="171450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870" b="0">
                <a:solidFill>
                  <a:srgbClr val="C8D6E5"/>
                </a:solidFill>
                <a:latin typeface="Inter"/>
              </a:defRPr>
            </a:pPr>
            <a:r>
              <a:t>Approvals</a:t>
            </a:r>
          </a:p>
        </p:txBody>
      </p:sp>
      <p:sp>
        <p:nvSpPr>
          <p:cNvPr id="30" name="Oval 29"/>
          <p:cNvSpPr/>
          <p:nvPr/>
        </p:nvSpPr>
        <p:spPr>
          <a:xfrm>
            <a:off x="5074920" y="3913632"/>
            <a:ext cx="73152" cy="73152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21224" y="3895344"/>
            <a:ext cx="1005840" cy="171450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870" b="0">
                <a:solidFill>
                  <a:srgbClr val="C8D6E5"/>
                </a:solidFill>
                <a:latin typeface="Inter"/>
              </a:defRPr>
            </a:pPr>
            <a:r>
              <a:t>Outputs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56632" y="4059936"/>
            <a:ext cx="1234440" cy="171450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870" b="0">
                <a:solidFill>
                  <a:srgbClr val="C8D6E5"/>
                </a:solidFill>
                <a:latin typeface="Inter"/>
              </a:defRPr>
            </a:pPr>
            <a:r>
              <a:t>CLIENT CALL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44768" y="2907792"/>
            <a:ext cx="301752" cy="0"/>
          </a:xfrm>
          <a:prstGeom prst="line">
            <a:avLst/>
          </a:prstGeom>
          <a:ln w="12700">
            <a:solidFill>
              <a:srgbClr val="9D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6139830" y="2866644"/>
            <a:ext cx="82296" cy="82296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369161" y="2866644"/>
            <a:ext cx="82296" cy="82296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14400" y="1828800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15568" y="1993392"/>
            <a:ext cx="1609344" cy="171450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870" b="0">
                <a:solidFill>
                  <a:srgbClr val="C8D6E5"/>
                </a:solidFill>
                <a:latin typeface="Inter"/>
              </a:defRPr>
            </a:pPr>
            <a:r>
              <a:t>NOTES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" y="2267712"/>
            <a:ext cx="1609344" cy="361950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030" b="0">
                <a:solidFill>
                  <a:srgbClr val="C8D6E5"/>
                </a:solidFill>
                <a:latin typeface="Inter"/>
              </a:defRPr>
            </a:pPr>
            <a:r>
              <a:t>transcripts, recaps</a:t>
            </a:r>
          </a:p>
        </p:txBody>
      </p:sp>
      <p:cxnSp>
        <p:nvCxnSpPr>
          <p:cNvPr id="39" name="Connector 38"/>
          <p:cNvCxnSpPr/>
          <p:nvPr/>
        </p:nvCxnSpPr>
        <p:spPr>
          <a:xfrm flipH="1" flipV="1">
            <a:off x="1920240" y="2249424"/>
            <a:ext cx="3886200" cy="996696"/>
          </a:xfrm>
          <a:prstGeom prst="line">
            <a:avLst/>
          </a:prstGeom>
          <a:ln w="1143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5298948" y="3085368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2345435" y="2327879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188720" y="4315968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389888" y="4480559"/>
            <a:ext cx="1609344" cy="171450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870" b="0">
                <a:solidFill>
                  <a:srgbClr val="C8D6E5"/>
                </a:solidFill>
                <a:latin typeface="Inter"/>
              </a:defRPr>
            </a:pPr>
            <a:r>
              <a:t>TASKS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89888" y="4754879"/>
            <a:ext cx="1609344" cy="361950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030" b="0">
                <a:solidFill>
                  <a:srgbClr val="C8D6E5"/>
                </a:solidFill>
                <a:latin typeface="Inter"/>
              </a:defRPr>
            </a:pPr>
            <a:r>
              <a:t>owners, deadlines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2194560" y="3246120"/>
            <a:ext cx="3611880" cy="1490472"/>
          </a:xfrm>
          <a:prstGeom prst="line">
            <a:avLst/>
          </a:prstGeom>
          <a:ln w="1143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5331866" y="3383828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2586837" y="4516587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3383280" y="1170432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584448" y="1335024"/>
            <a:ext cx="1609344" cy="171450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870" b="0">
                <a:solidFill>
                  <a:srgbClr val="C8D6E5"/>
                </a:solidFill>
                <a:latin typeface="Inter"/>
              </a:defRPr>
            </a:pPr>
            <a:r>
              <a:t>FILES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84448" y="1609344"/>
            <a:ext cx="1609344" cy="361950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030" b="0">
                <a:solidFill>
                  <a:srgbClr val="C8D6E5"/>
                </a:solidFill>
                <a:latin typeface="Inter"/>
              </a:defRPr>
            </a:pPr>
            <a:r>
              <a:t>source material</a:t>
            </a:r>
          </a:p>
        </p:txBody>
      </p:sp>
      <p:cxnSp>
        <p:nvCxnSpPr>
          <p:cNvPr id="51" name="Connector 50"/>
          <p:cNvCxnSpPr/>
          <p:nvPr/>
        </p:nvCxnSpPr>
        <p:spPr>
          <a:xfrm flipH="1" flipV="1">
            <a:off x="4389120" y="1591056"/>
            <a:ext cx="1417320" cy="1655064"/>
          </a:xfrm>
          <a:prstGeom prst="line">
            <a:avLst/>
          </a:prstGeom>
          <a:ln w="1143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5595213" y="3006364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4518050" y="1748515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3703320" y="4983480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904487" y="5148072"/>
            <a:ext cx="1609344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20" b="1">
                <a:solidFill>
                  <a:srgbClr val="48E0D0"/>
                </a:solidFill>
                <a:latin typeface="Inter"/>
              </a:defRPr>
            </a:pPr>
            <a:r>
              <a:t>APPROVALS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04487" y="5422392"/>
            <a:ext cx="1609344" cy="361950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030" b="0">
                <a:solidFill>
                  <a:srgbClr val="C8D6E5"/>
                </a:solidFill>
                <a:latin typeface="Inter"/>
              </a:defRPr>
            </a:pPr>
            <a:r>
              <a:t>claims, sends, deploys</a:t>
            </a:r>
          </a:p>
        </p:txBody>
      </p:sp>
      <p:cxnSp>
        <p:nvCxnSpPr>
          <p:cNvPr id="57" name="Connector 56"/>
          <p:cNvCxnSpPr/>
          <p:nvPr/>
        </p:nvCxnSpPr>
        <p:spPr>
          <a:xfrm flipH="1">
            <a:off x="4709160" y="3246120"/>
            <a:ext cx="1097280" cy="2157984"/>
          </a:xfrm>
          <a:prstGeom prst="line">
            <a:avLst/>
          </a:prstGeom>
          <a:ln w="1143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5633618" y="3463930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4799685" y="5103997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7498079" y="4754880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699248" y="4919472"/>
            <a:ext cx="1609344" cy="171450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870" b="0">
                <a:solidFill>
                  <a:srgbClr val="C8D6E5"/>
                </a:solidFill>
                <a:latin typeface="Inter"/>
              </a:defRPr>
            </a:pPr>
            <a:r>
              <a:t>REPORTING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99248" y="5193792"/>
            <a:ext cx="1609344" cy="361950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030" b="0">
                <a:solidFill>
                  <a:srgbClr val="C8D6E5"/>
                </a:solidFill>
                <a:latin typeface="Inter"/>
              </a:defRPr>
            </a:pPr>
            <a:r>
              <a:t>dashboards, updates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806440" y="3246120"/>
            <a:ext cx="2697479" cy="1929384"/>
          </a:xfrm>
          <a:prstGeom prst="line">
            <a:avLst/>
          </a:prstGeom>
          <a:ln w="1143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6088989" y="3436498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8139074" y="4902829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9144000" y="2852928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345168" y="3017520"/>
            <a:ext cx="1609344" cy="171450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870" b="0">
                <a:solidFill>
                  <a:srgbClr val="C8D6E5"/>
                </a:solidFill>
                <a:latin typeface="Inter"/>
              </a:defRPr>
            </a:pPr>
            <a:r>
              <a:t>CONTENT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45168" y="3291840"/>
            <a:ext cx="1609344" cy="361950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030" b="0">
                <a:solidFill>
                  <a:srgbClr val="C8D6E5"/>
                </a:solidFill>
                <a:latin typeface="Inter"/>
              </a:defRPr>
            </a:pPr>
            <a:r>
              <a:t>posts, pages, emails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806440" y="3246120"/>
            <a:ext cx="4343400" cy="27432"/>
          </a:xfrm>
          <a:prstGeom prst="line">
            <a:avLst/>
          </a:prstGeom>
          <a:ln w="1143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6286500" y="3208263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9587484" y="3229112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7882127" y="1298448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083296" y="1463039"/>
            <a:ext cx="1609344" cy="171450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870" b="0">
                <a:solidFill>
                  <a:srgbClr val="C8D6E5"/>
                </a:solidFill>
                <a:latin typeface="Inter"/>
              </a:defRPr>
            </a:pPr>
            <a:r>
              <a:t>FOLLOW-UP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83296" y="1737360"/>
            <a:ext cx="1609344" cy="361950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030" b="0">
                <a:solidFill>
                  <a:srgbClr val="C8D6E5"/>
                </a:solidFill>
                <a:latin typeface="Inter"/>
              </a:defRPr>
            </a:pPr>
            <a:r>
              <a:t>client-ready next steps</a:t>
            </a:r>
          </a:p>
        </p:txBody>
      </p:sp>
      <p:cxnSp>
        <p:nvCxnSpPr>
          <p:cNvPr id="75" name="Connector 74"/>
          <p:cNvCxnSpPr/>
          <p:nvPr/>
        </p:nvCxnSpPr>
        <p:spPr>
          <a:xfrm flipV="1">
            <a:off x="5806440" y="1719072"/>
            <a:ext cx="3081527" cy="1527048"/>
          </a:xfrm>
          <a:prstGeom prst="line">
            <a:avLst/>
          </a:prstGeom>
          <a:ln w="1143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6135075" y="3021726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8477036" y="1861169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143000" y="5897880"/>
            <a:ext cx="9601200" cy="256032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 algn="ctr">
              <a:defRPr sz="1350" b="0">
                <a:solidFill>
                  <a:srgbClr val="C8D6E5"/>
                </a:solidFill>
                <a:latin typeface="Inter"/>
              </a:defRPr>
            </a:pPr>
            <a:r>
              <a:t>The buyer pain is not one prompt. It is memory, routing, governance, and repeatable delivery.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8368" y="6446520"/>
            <a:ext cx="3657600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80" b="0">
                <a:solidFill>
                  <a:srgbClr val="A6B6CA">
                    <a:alpha val="84000"/>
                  </a:srgbClr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789920" y="6446520"/>
            <a:ext cx="777240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80" b="0">
                <a:solidFill>
                  <a:srgbClr val="A6B6CA">
                    <a:alpha val="84000"/>
                  </a:srgbClr>
                </a:solidFill>
                <a:latin typeface="Inter"/>
              </a:defRPr>
            </a:pPr>
            <a:r>
              <a:t>02/12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502920"/>
            <a:ext cx="2194560" cy="21945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4892040"/>
            <a:ext cx="1508760" cy="150876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1">
                <a:solidFill>
                  <a:srgbClr val="48E0D0"/>
                </a:solidFill>
                <a:latin typeface="Inter"/>
              </a:defRPr>
            </a:pPr>
            <a: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8431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0">
                <a:solidFill>
                  <a:srgbClr val="A6B6CA">
                    <a:alpha val="72000"/>
                  </a:srgbClr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1663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0">
                <a:solidFill>
                  <a:srgbClr val="A6B6CA">
                    <a:alpha val="72000"/>
                  </a:srgbClr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4895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0">
                <a:solidFill>
                  <a:srgbClr val="A6B6CA">
                    <a:alpha val="72000"/>
                  </a:srgbClr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042415"/>
            <a:ext cx="4389120" cy="190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40" b="1">
                <a:solidFill>
                  <a:srgbClr val="48E0D0"/>
                </a:solidFill>
                <a:latin typeface="Inter"/>
              </a:defRPr>
            </a:pPr>
            <a: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350" b="1">
                <a:solidFill>
                  <a:srgbClr val="F7FBFF"/>
                </a:solidFill>
                <a:latin typeface="Inter"/>
              </a:defRPr>
            </a:pPr>
            <a:r>
              <a:t>Nathan runs the client workflow from Teams.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52928"/>
            <a:ext cx="5120640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50" b="0">
                <a:solidFill>
                  <a:srgbClr val="C8D6E5"/>
                </a:solidFill>
                <a:latin typeface="Inter"/>
              </a:defRPr>
            </a:pPr>
            <a:r>
              <a:t>A front-door orchestrator routes work to specialist agents, grounds it in project memory, and keeps approvals visible.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21992"/>
            <a:ext cx="288036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2331720"/>
            <a:ext cx="425196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2441448"/>
            <a:ext cx="603504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33856" y="2286000"/>
            <a:ext cx="75438" cy="75438"/>
          </a:xfrm>
          <a:prstGeom prst="ellipse">
            <a:avLst/>
          </a:prstGeom>
          <a:solidFill>
            <a:srgbClr val="48E0D0"/>
          </a:solidFill>
          <a:ln w="952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9808" y="2816352"/>
            <a:ext cx="2542032" cy="1426464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solidFill>
            <a:srgbClr val="48E0D0">
              <a:alpha val="93000"/>
            </a:srgbClr>
          </a:solidFill>
          <a:xfrm>
            <a:off x="914400" y="2944368"/>
            <a:ext cx="274320" cy="381000"/>
          </a:xfrm>
          <a:prstGeom prst="roundRect">
            <a:avLst/>
          </a:prstGeom>
          <a:ln w="11430">
            <a:solidFill>
              <a:srgbClr val="48E0D0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mid" lIns="104775" rIns="104775" tIns="85725" bIns="85725"/>
          <a:lstStyle/>
          <a:p>
            <a:pPr algn="ctr">
              <a:defRPr sz="950" b="1">
                <a:solidFill>
                  <a:srgbClr val="061423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6736" y="3035808"/>
            <a:ext cx="2103120" cy="256032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700" b="1">
                <a:solidFill>
                  <a:srgbClr val="F7FBFF"/>
                </a:solidFill>
                <a:latin typeface="Inter"/>
              </a:defRPr>
            </a:pPr>
            <a:r>
              <a:t>Brief Intake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6736" y="3611880"/>
            <a:ext cx="2011680" cy="361950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030" b="0">
                <a:solidFill>
                  <a:srgbClr val="C8D6E5"/>
                </a:solidFill>
                <a:latin typeface="Inter"/>
              </a:defRPr>
            </a:pPr>
            <a:r>
              <a:t>audience, source, constraints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64991" y="3529584"/>
            <a:ext cx="164593" cy="0"/>
          </a:xfrm>
          <a:prstGeom prst="line">
            <a:avLst/>
          </a:prstGeom>
          <a:ln w="17145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343595" y="3488436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468684" y="3488436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529584" y="2816352"/>
            <a:ext cx="2542032" cy="1426464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solidFill>
            <a:srgbClr val="102942">
              <a:alpha val="82000"/>
            </a:srgbClr>
          </a:solidFill>
          <a:xfrm>
            <a:off x="3694176" y="2944368"/>
            <a:ext cx="274320" cy="381000"/>
          </a:xfrm>
          <a:prstGeom prst="roundRect">
            <a:avLst/>
          </a:prstGeom>
          <a:ln w="11430">
            <a:solidFill>
              <a:srgbClr val="375F79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mid" lIns="104775" rIns="104775" tIns="85725" bIns="85725"/>
          <a:lstStyle/>
          <a:p>
            <a:pPr algn="ctr">
              <a:defRPr sz="980" b="1">
                <a:solidFill>
                  <a:srgbClr val="F7FBFF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6511" y="3035808"/>
            <a:ext cx="2103120" cy="256032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700" b="1">
                <a:solidFill>
                  <a:srgbClr val="F7FBFF"/>
                </a:solidFill>
                <a:latin typeface="Inter"/>
              </a:defRPr>
            </a:pPr>
            <a:r>
              <a:t>Agent Routing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6511" y="3611880"/>
            <a:ext cx="2011680" cy="361950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030" b="0">
                <a:solidFill>
                  <a:srgbClr val="C8D6E5"/>
                </a:solidFill>
                <a:latin typeface="Inter"/>
              </a:defRPr>
            </a:pPr>
            <a:r>
              <a:t>right specialist, visible handoff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144768" y="3529584"/>
            <a:ext cx="164592" cy="0"/>
          </a:xfrm>
          <a:prstGeom prst="line">
            <a:avLst/>
          </a:prstGeom>
          <a:ln w="17145">
            <a:solidFill>
              <a:srgbClr val="0210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123371" y="3488436"/>
            <a:ext cx="82296" cy="82296"/>
          </a:xfrm>
          <a:prstGeom prst="ellipse">
            <a:avLst/>
          </a:prstGeom>
          <a:solidFill>
            <a:srgbClr val="02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248460" y="3488436"/>
            <a:ext cx="82296" cy="82296"/>
          </a:xfrm>
          <a:prstGeom prst="ellipse">
            <a:avLst/>
          </a:prstGeom>
          <a:solidFill>
            <a:srgbClr val="02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309360" y="2816352"/>
            <a:ext cx="2542032" cy="1426464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solidFill>
            <a:srgbClr val="48E0D0">
              <a:alpha val="93000"/>
            </a:srgbClr>
          </a:solidFill>
          <a:xfrm>
            <a:off x="6473952" y="2944368"/>
            <a:ext cx="274320" cy="381000"/>
          </a:xfrm>
          <a:prstGeom prst="roundRect">
            <a:avLst/>
          </a:prstGeom>
          <a:ln w="11430">
            <a:solidFill>
              <a:srgbClr val="48E0D0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mid" lIns="104775" rIns="104775" tIns="85725" bIns="85725"/>
          <a:lstStyle/>
          <a:p>
            <a:pPr algn="ctr">
              <a:defRPr sz="950" b="1">
                <a:solidFill>
                  <a:srgbClr val="061423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76288" y="3035808"/>
            <a:ext cx="2103120" cy="256032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700" b="1">
                <a:solidFill>
                  <a:srgbClr val="F7FBFF"/>
                </a:solidFill>
                <a:latin typeface="Inter"/>
              </a:defRPr>
            </a:pPr>
            <a:r>
              <a:t>Asset Factory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6288" y="3611880"/>
            <a:ext cx="2011680" cy="361950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030" b="0">
                <a:solidFill>
                  <a:srgbClr val="C8D6E5"/>
                </a:solidFill>
                <a:latin typeface="Inter"/>
              </a:defRPr>
            </a:pPr>
            <a:r>
              <a:t>notes, sites, emails, dashboards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924544" y="3529584"/>
            <a:ext cx="164592" cy="0"/>
          </a:xfrm>
          <a:prstGeom prst="line">
            <a:avLst/>
          </a:prstGeom>
          <a:ln w="17145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903147" y="3488436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028236" y="3488436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089136" y="2816352"/>
            <a:ext cx="2542032" cy="1426464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solidFill>
            <a:srgbClr val="48E0D0">
              <a:alpha val="93000"/>
            </a:srgbClr>
          </a:solidFill>
          <a:xfrm>
            <a:off x="9253728" y="2944368"/>
            <a:ext cx="274320" cy="381000"/>
          </a:xfrm>
          <a:prstGeom prst="roundRect">
            <a:avLst/>
          </a:prstGeom>
          <a:ln w="11430">
            <a:solidFill>
              <a:srgbClr val="48E0D0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mid" lIns="104775" rIns="104775" tIns="85725" bIns="85725"/>
          <a:lstStyle/>
          <a:p>
            <a:pPr algn="ctr">
              <a:defRPr sz="950" b="1">
                <a:solidFill>
                  <a:srgbClr val="061423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56064" y="3035808"/>
            <a:ext cx="2103120" cy="256032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700" b="1">
                <a:solidFill>
                  <a:srgbClr val="F7FBFF"/>
                </a:solidFill>
                <a:latin typeface="Inter"/>
              </a:defRPr>
            </a:pPr>
            <a:r>
              <a:t>Launch Loop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56064" y="3611880"/>
            <a:ext cx="2011680" cy="361950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030" b="0">
                <a:solidFill>
                  <a:srgbClr val="C8D6E5"/>
                </a:solidFill>
                <a:latin typeface="Inter"/>
              </a:defRPr>
            </a:pPr>
            <a:r>
              <a:t>approve, deploy, refine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80160" y="5010912"/>
            <a:ext cx="9601200" cy="603504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600200" y="5202936"/>
            <a:ext cx="8961120" cy="164592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 algn="ctr">
              <a:defRPr sz="1300" b="0">
                <a:solidFill>
                  <a:srgbClr val="C8D6E5"/>
                </a:solidFill>
                <a:latin typeface="Inter"/>
              </a:defRPr>
            </a:pPr>
            <a:r>
              <a:t>Human approval gates govern client-facing sends, publishing, deployments, claims, and commitments.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446520"/>
            <a:ext cx="3657600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80" b="0">
                <a:solidFill>
                  <a:srgbClr val="A6B6CA">
                    <a:alpha val="84000"/>
                  </a:srgbClr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446520"/>
            <a:ext cx="777240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80" b="0">
                <a:solidFill>
                  <a:srgbClr val="A6B6CA">
                    <a:alpha val="84000"/>
                  </a:srgbClr>
                </a:solidFill>
                <a:latin typeface="Inter"/>
              </a:defRPr>
            </a:pPr>
            <a:r>
              <a:t>03/12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502920"/>
            <a:ext cx="2194560" cy="2194560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4892040"/>
            <a:ext cx="1508760" cy="150876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1">
                <a:solidFill>
                  <a:srgbClr val="48E0D0"/>
                </a:solidFill>
                <a:latin typeface="Inter"/>
              </a:defRPr>
            </a:pPr>
            <a:r>
              <a:t>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8431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0">
                <a:solidFill>
                  <a:srgbClr val="A6B6CA">
                    <a:alpha val="72000"/>
                  </a:srgbClr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1663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0">
                <a:solidFill>
                  <a:srgbClr val="A6B6CA">
                    <a:alpha val="72000"/>
                  </a:srgbClr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4895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0">
                <a:solidFill>
                  <a:srgbClr val="A6B6CA">
                    <a:alpha val="72000"/>
                  </a:srgbClr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042415"/>
            <a:ext cx="4389120" cy="190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40" b="1">
                <a:solidFill>
                  <a:srgbClr val="48E0D0"/>
                </a:solidFill>
                <a:latin typeface="Inter"/>
              </a:defRPr>
            </a:pPr>
            <a:r>
              <a:t>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350" b="1">
                <a:solidFill>
                  <a:srgbClr val="F7FBFF"/>
                </a:solidFill>
                <a:latin typeface="Inter"/>
              </a:defRPr>
            </a:pPr>
            <a:r>
              <a:t>A Microsoft-native client-work 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52928"/>
            <a:ext cx="5120640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50" b="0">
                <a:solidFill>
                  <a:srgbClr val="C8D6E5"/>
                </a:solidFill>
                <a:latin typeface="Inter"/>
              </a:defRPr>
            </a:pPr>
            <a:r>
              <a:t>Teams and Microsoft 365 are the launch surface customers already use, not the company’s ceiling.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340864"/>
            <a:ext cx="10149840" cy="68580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70432" y="2523744"/>
            <a:ext cx="1828800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20" b="1">
                <a:solidFill>
                  <a:srgbClr val="48E0D0"/>
                </a:solidFill>
                <a:latin typeface="Inter"/>
              </a:defRPr>
            </a:pPr>
            <a:r>
              <a:t>FRONT DOORS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505456"/>
            <a:ext cx="7772400" cy="182880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160" b="0">
                <a:solidFill>
                  <a:srgbClr val="C8D6E5"/>
                </a:solidFill>
                <a:latin typeface="Inter"/>
              </a:defRPr>
            </a:pPr>
            <a:r>
              <a:t>Teams messages | M365 Files | Word | email/task surfaces | web/demo 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163824"/>
            <a:ext cx="10149840" cy="68580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0432" y="3346704"/>
            <a:ext cx="1828800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20" b="1">
                <a:solidFill>
                  <a:srgbClr val="48E0D0"/>
                </a:solidFill>
                <a:latin typeface="Inter"/>
              </a:defRPr>
            </a:pPr>
            <a:r>
              <a:t>ORCHESTRATION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328416"/>
            <a:ext cx="7772400" cy="182880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160" b="0">
                <a:solidFill>
                  <a:srgbClr val="C8D6E5"/>
                </a:solidFill>
                <a:latin typeface="Inter"/>
              </a:defRPr>
            </a:pPr>
            <a:r>
              <a:t>Nathan | FastAPI/LangGraph | specialist agent registry | readiness checks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986784"/>
            <a:ext cx="10149840" cy="68580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70432" y="4169664"/>
            <a:ext cx="1828800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20" b="1">
                <a:solidFill>
                  <a:srgbClr val="48E0D0"/>
                </a:solidFill>
                <a:latin typeface="Inter"/>
              </a:defRPr>
            </a:pPr>
            <a:r>
              <a:t>MEMORY + GOVERNANCE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4151376"/>
            <a:ext cx="7772400" cy="182880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160" b="0">
                <a:solidFill>
                  <a:srgbClr val="C8D6E5"/>
                </a:solidFill>
                <a:latin typeface="Inter"/>
              </a:defRPr>
            </a:pPr>
            <a:r>
              <a:t>clients | projects | source assets | approval states | agent events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809744"/>
            <a:ext cx="10149840" cy="68580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70432" y="4992624"/>
            <a:ext cx="1828800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20" b="1">
                <a:solidFill>
                  <a:srgbClr val="48E0D0"/>
                </a:solidFill>
                <a:latin typeface="Inter"/>
              </a:defRPr>
            </a:pPr>
            <a:r>
              <a:t>OUTPUT SYSTEMS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4974336"/>
            <a:ext cx="7772400" cy="182880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160" b="0">
                <a:solidFill>
                  <a:srgbClr val="C8D6E5"/>
                </a:solidFill>
                <a:latin typeface="Inter"/>
              </a:defRPr>
            </a:pPr>
            <a:r>
              <a:t>meeting notes | approval packets | campaign sites | dashboards | follow-up</a:t>
            </a:r>
          </a:p>
        </p:txBody>
      </p:sp>
      <p:sp>
        <p:nvSpPr>
          <p:cNvPr id="25" name="Rounded Rectangle 24"/>
          <p:cNvSpPr/>
          <p:nvPr/>
        </p:nvSpPr>
        <p:spPr>
          <a:solidFill>
            <a:srgbClr val="48E0D0">
              <a:alpha val="93000"/>
            </a:srgbClr>
          </a:solidFill>
          <a:xfrm>
            <a:off x="914400" y="5715000"/>
            <a:ext cx="5074920" cy="381000"/>
          </a:xfrm>
          <a:prstGeom prst="roundRect">
            <a:avLst/>
          </a:prstGeom>
          <a:ln w="11430">
            <a:solidFill>
              <a:srgbClr val="48E0D0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mid" lIns="104775" rIns="104775" tIns="85725" bIns="85725"/>
          <a:lstStyle/>
          <a:p>
            <a:pPr algn="ctr">
              <a:defRPr sz="950" b="1">
                <a:solidFill>
                  <a:srgbClr val="061423"/>
                </a:solidFill>
                <a:latin typeface="Inter"/>
              </a:defRPr>
            </a:pPr>
            <a:r>
              <a:t>Working proof: routing, memory scaffold, Files outputs, approvals</a:t>
            </a:r>
          </a:p>
        </p:txBody>
      </p:sp>
      <p:sp>
        <p:nvSpPr>
          <p:cNvPr id="26" name="Rounded Rectangle 25"/>
          <p:cNvSpPr/>
          <p:nvPr/>
        </p:nvSpPr>
        <p:spPr>
          <a:solidFill>
            <a:srgbClr val="102942">
              <a:alpha val="82000"/>
            </a:srgbClr>
          </a:solidFill>
          <a:xfrm>
            <a:off x="6236208" y="5715000"/>
            <a:ext cx="4846320" cy="381000"/>
          </a:xfrm>
          <a:prstGeom prst="roundRect">
            <a:avLst/>
          </a:prstGeom>
          <a:ln w="11430">
            <a:solidFill>
              <a:srgbClr val="375F79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mid" lIns="104775" rIns="104775" tIns="85725" bIns="85725"/>
          <a:lstStyle/>
          <a:p>
            <a:pPr algn="ctr">
              <a:defRPr sz="980" b="1">
                <a:solidFill>
                  <a:srgbClr val="F7FBFF"/>
                </a:solidFill>
                <a:latin typeface="Inter"/>
              </a:defRPr>
            </a:pPr>
            <a:r>
              <a:t>Roadmap: native Teams audio/video media bridge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46520"/>
            <a:ext cx="3657600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80" b="0">
                <a:solidFill>
                  <a:srgbClr val="A6B6CA">
                    <a:alpha val="84000"/>
                  </a:srgbClr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777240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80" b="0">
                <a:solidFill>
                  <a:srgbClr val="A6B6CA">
                    <a:alpha val="84000"/>
                  </a:srgbClr>
                </a:solidFill>
                <a:latin typeface="Inter"/>
              </a:defRPr>
            </a:pPr>
            <a:r>
              <a:t>04/12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502920"/>
            <a:ext cx="2194560" cy="21945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4892040"/>
            <a:ext cx="1508760" cy="150876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1">
                <a:solidFill>
                  <a:srgbClr val="48E0D0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8431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0">
                <a:solidFill>
                  <a:srgbClr val="A6B6CA">
                    <a:alpha val="72000"/>
                  </a:srgbClr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1663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0">
                <a:solidFill>
                  <a:srgbClr val="A6B6CA">
                    <a:alpha val="72000"/>
                  </a:srgbClr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4895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0">
                <a:solidFill>
                  <a:srgbClr val="A6B6CA">
                    <a:alpha val="72000"/>
                  </a:srgbClr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042415"/>
            <a:ext cx="4389120" cy="190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40" b="1">
                <a:solidFill>
                  <a:srgbClr val="48E0D0"/>
                </a:solidFill>
                <a:latin typeface="Inter"/>
              </a:defRPr>
            </a:pPr>
            <a:r>
              <a:t>WHAT EXISTS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350" b="1">
                <a:solidFill>
                  <a:srgbClr val="F7FBFF"/>
                </a:solidFill>
                <a:latin typeface="Inter"/>
              </a:defRPr>
            </a:pPr>
            <a:r>
              <a:t>The demo proves the operating loop.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52928"/>
            <a:ext cx="5120640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50" b="0">
                <a:solidFill>
                  <a:srgbClr val="C8D6E5"/>
                </a:solidFill>
                <a:latin typeface="Inter"/>
              </a:defRPr>
            </a:pPr>
            <a:r>
              <a:t>Current proof is specific: workflow infrastructure, seeded pilot artifacts, and approval-aware outputs.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2267712"/>
            <a:ext cx="3429000" cy="93268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42416" y="2432304"/>
            <a:ext cx="3026664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20" b="1">
                <a:solidFill>
                  <a:srgbClr val="48E0D0"/>
                </a:solidFill>
                <a:latin typeface="Inter"/>
              </a:defRPr>
            </a:pPr>
            <a:r>
              <a:t>NATHAN ROUTING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" y="2706624"/>
            <a:ext cx="3026664" cy="420623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030" b="0">
                <a:solidFill>
                  <a:srgbClr val="C8D6E5"/>
                </a:solidFill>
                <a:latin typeface="Inter"/>
              </a:defRPr>
            </a:pPr>
            <a:r>
              <a:t>Teams-style messages against project memory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2267712"/>
            <a:ext cx="3429000" cy="93268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27448" y="2432304"/>
            <a:ext cx="3026664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20" b="1">
                <a:solidFill>
                  <a:srgbClr val="48E0D0"/>
                </a:solidFill>
                <a:latin typeface="Inter"/>
              </a:defRPr>
            </a:pPr>
            <a:r>
              <a:t>M365 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2706624"/>
            <a:ext cx="3026664" cy="420623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030" b="0">
                <a:solidFill>
                  <a:srgbClr val="C8D6E5"/>
                </a:solidFill>
                <a:latin typeface="Inter"/>
              </a:defRPr>
            </a:pPr>
            <a:r>
              <a:t>meeting notes as .md and .docx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11312" y="2267712"/>
            <a:ext cx="3429000" cy="93268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2432304"/>
            <a:ext cx="3026664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20" b="1">
                <a:solidFill>
                  <a:srgbClr val="48E0D0"/>
                </a:solidFill>
                <a:latin typeface="Inter"/>
              </a:defRPr>
            </a:pPr>
            <a:r>
              <a:t>APPROVALS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706624"/>
            <a:ext cx="3026664" cy="420623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030" b="0">
                <a:solidFill>
                  <a:srgbClr val="C8D6E5"/>
                </a:solidFill>
                <a:latin typeface="Inter"/>
              </a:defRPr>
            </a:pPr>
            <a:r>
              <a:t>endpoints and Teams-ready cards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3438144"/>
            <a:ext cx="3429000" cy="93268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2416" y="3602736"/>
            <a:ext cx="3026664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20" b="1">
                <a:solidFill>
                  <a:srgbClr val="48E0D0"/>
                </a:solidFill>
                <a:latin typeface="Inter"/>
              </a:defRPr>
            </a:pPr>
            <a:r>
              <a:t>RAMAIR WORKSPACE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" y="3877056"/>
            <a:ext cx="3026664" cy="420623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030" b="0">
                <a:solidFill>
                  <a:srgbClr val="C8D6E5"/>
                </a:solidFill>
                <a:latin typeface="Inter"/>
              </a:defRPr>
            </a:pPr>
            <a:r>
              <a:t>channel model, artifacts, dashboard starter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3438144"/>
            <a:ext cx="3429000" cy="93268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27448" y="3602736"/>
            <a:ext cx="3026664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20" b="1">
                <a:solidFill>
                  <a:srgbClr val="48E0D0"/>
                </a:solidFill>
                <a:latin typeface="Inter"/>
              </a:defRPr>
            </a:pPr>
            <a:r>
              <a:t>AVATAR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8" y="3877056"/>
            <a:ext cx="3026664" cy="420623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030" b="0">
                <a:solidFill>
                  <a:srgbClr val="C8D6E5"/>
                </a:solidFill>
                <a:latin typeface="Inter"/>
              </a:defRPr>
            </a:pPr>
            <a:r>
              <a:t>provider-hosted Tavus path; native Teams A/V remains roadmap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11312" y="3438144"/>
            <a:ext cx="3429000" cy="93268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0" y="3602736"/>
            <a:ext cx="3026664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20" b="1">
                <a:solidFill>
                  <a:srgbClr val="48E0D0"/>
                </a:solidFill>
                <a:latin typeface="Inter"/>
              </a:defRPr>
            </a:pPr>
            <a:r>
              <a:t>READINESS CHECKS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77056"/>
            <a:ext cx="3026664" cy="420623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030" b="0">
                <a:solidFill>
                  <a:srgbClr val="C8D6E5"/>
                </a:solidFill>
                <a:latin typeface="Inter"/>
              </a:defRPr>
            </a:pPr>
            <a:r>
              <a:t>LLM, memory, M365, Teams, avatar, approvals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5715000"/>
            <a:ext cx="9966960" cy="292608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 algn="ctr">
              <a:defRPr sz="1160" b="0">
                <a:solidFill>
                  <a:srgbClr val="C8D6E5"/>
                </a:solidFill>
                <a:latin typeface="Inter"/>
              </a:defRPr>
            </a:pPr>
            <a:r>
              <a:t>Credibility boundary: do not imply mature SaaS traction or production native Teams media until pilots and media bridge validation prove it.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446520"/>
            <a:ext cx="3657600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80" b="0">
                <a:solidFill>
                  <a:srgbClr val="A6B6CA">
                    <a:alpha val="84000"/>
                  </a:srgbClr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46520"/>
            <a:ext cx="777240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80" b="0">
                <a:solidFill>
                  <a:srgbClr val="A6B6CA">
                    <a:alpha val="84000"/>
                  </a:srgbClr>
                </a:solidFill>
                <a:latin typeface="Inter"/>
              </a:defRPr>
            </a:pPr>
            <a:r>
              <a:t>05/12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502920"/>
            <a:ext cx="2194560" cy="21945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4892040"/>
            <a:ext cx="1508760" cy="150876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1">
                <a:solidFill>
                  <a:srgbClr val="48E0D0"/>
                </a:solidFill>
                <a:latin typeface="Inter"/>
              </a:defRPr>
            </a:pPr>
            <a:r>
              <a:t>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8431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0">
                <a:solidFill>
                  <a:srgbClr val="A6B6CA">
                    <a:alpha val="72000"/>
                  </a:srgbClr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1663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0">
                <a:solidFill>
                  <a:srgbClr val="A6B6CA">
                    <a:alpha val="72000"/>
                  </a:srgbClr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4895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0">
                <a:solidFill>
                  <a:srgbClr val="A6B6CA">
                    <a:alpha val="72000"/>
                  </a:srgbClr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042415"/>
            <a:ext cx="4389120" cy="190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40" b="1">
                <a:solidFill>
                  <a:srgbClr val="48E0D0"/>
                </a:solidFill>
                <a:latin typeface="Inter"/>
              </a:defRPr>
            </a:pPr>
            <a:r>
              <a:t>PARLAYVU IN THE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350" b="1">
                <a:solidFill>
                  <a:srgbClr val="F7FBFF"/>
                </a:solidFill>
                <a:latin typeface="Inter"/>
              </a:defRPr>
            </a:pPr>
            <a:r>
              <a:t>RamAir turns one weekly podcast into a content engine.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52928"/>
            <a:ext cx="5120640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50" b="0">
                <a:solidFill>
                  <a:srgbClr val="C8D6E5"/>
                </a:solidFill>
                <a:latin typeface="Inter"/>
              </a:defRPr>
            </a:pPr>
            <a:r>
              <a:t>The first client story shows the repeatable pattern: source material becomes governed outputs across channels.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337560"/>
            <a:ext cx="2834640" cy="257860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ramair-david-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176272"/>
            <a:ext cx="2834640" cy="27157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42416" y="4188866"/>
            <a:ext cx="2432304" cy="171450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870" b="0">
                <a:solidFill>
                  <a:srgbClr val="C8D6E5"/>
                </a:solidFill>
                <a:latin typeface="Inter"/>
              </a:defRPr>
            </a:pPr>
            <a:r>
              <a:rPr dirty="0" sz="870" b="0">
                <a:solidFill>
                  <a:srgbClr val="C8D6E5"/>
                </a:solidFill>
                <a:latin typeface="Inter"/>
              </a:rPr>
              <a:t>RAMAIR / RAMAIR.CO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897526"/>
            <a:ext cx="2432304" cy="338554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700" b="1">
                <a:solidFill>
                  <a:srgbClr val="F7FBFF"/>
                </a:solidFill>
                <a:latin typeface="Inter"/>
              </a:defRPr>
            </a:pPr>
            <a:r>
              <a:rPr sz="1700" dirty="0" b="1">
                <a:solidFill>
                  <a:srgbClr val="F7FBFF"/>
                </a:solidFill>
                <a:latin typeface="Inter"/>
              </a:rPr>
              <a:t>Straight from the Hart</a:t>
            </a:r>
            <a:r>
              <a:rPr lang="en-US" sz="1700" dirty="0" b="1">
                <a:solidFill>
                  <a:srgbClr val="F7FBFF"/>
                </a:solidFill>
                <a:latin typeface="Inter"/>
              </a:rPr>
              <a:t/>
            </a:r>
            <a:r>
              <a:rPr sz="1700" dirty="0" b="1">
                <a:solidFill>
                  <a:srgbClr val="F7FBFF"/>
                </a:solidFill>
                <a:latin typeface="Inter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55971"/>
            <a:ext cx="2395728" cy="384048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870" b="0">
                <a:solidFill>
                  <a:srgbClr val="C8D6E5"/>
                </a:solidFill>
                <a:latin typeface="Inter"/>
              </a:defRPr>
            </a:pPr>
            <a:r>
              <a:rPr dirty="0" sz="870" b="0">
                <a:solidFill>
                  <a:srgbClr val="C8D6E5"/>
                </a:solidFill>
                <a:latin typeface="Inter"/>
              </a:rPr>
              <a:t>Podcast source material becomes a coordinated workspace and distribution cadence.</a:t>
            </a:r>
          </a:p>
        </p:txBody>
      </p:sp>
      <p:sp>
        <p:nvSpPr>
          <p:cNvPr id="20" name="Oval 19"/>
          <p:cNvSpPr/>
          <p:nvPr/>
        </p:nvSpPr>
        <p:spPr>
          <a:xfrm>
            <a:off x="4849794" y="2602199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160520" y="2084831"/>
            <a:ext cx="1783080" cy="87782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61688" y="2249424"/>
            <a:ext cx="1380744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20" b="1">
                <a:solidFill>
                  <a:srgbClr val="48E0D0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8" y="2523744"/>
            <a:ext cx="1380744" cy="365759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030" b="0">
                <a:solidFill>
                  <a:srgbClr val="C8D6E5"/>
                </a:solidFill>
                <a:latin typeface="Inter"/>
              </a:defRPr>
            </a:pPr>
            <a:r>
              <a:t>YouTube + site</a:t>
            </a:r>
          </a:p>
        </p:txBody>
      </p:sp>
      <p:sp>
        <p:nvSpPr>
          <p:cNvPr id="26" name="Oval 25"/>
          <p:cNvSpPr/>
          <p:nvPr/>
        </p:nvSpPr>
        <p:spPr>
          <a:xfrm>
            <a:off x="6756867" y="2602199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27648" y="2084831"/>
            <a:ext cx="1783080" cy="87782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28816" y="2249424"/>
            <a:ext cx="1380744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20" b="1">
                <a:solidFill>
                  <a:srgbClr val="48E0D0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8816" y="2523744"/>
            <a:ext cx="1380744" cy="365759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030" b="0">
                <a:solidFill>
                  <a:srgbClr val="C8D6E5"/>
                </a:solidFill>
                <a:latin typeface="Inter"/>
              </a:defRPr>
            </a:pPr>
            <a:r>
              <a:t>Short clips</a:t>
            </a:r>
          </a:p>
        </p:txBody>
      </p:sp>
      <p:sp>
        <p:nvSpPr>
          <p:cNvPr id="32" name="Oval 31"/>
          <p:cNvSpPr/>
          <p:nvPr/>
        </p:nvSpPr>
        <p:spPr>
          <a:xfrm>
            <a:off x="8655893" y="2602199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485632" y="2084831"/>
            <a:ext cx="1783080" cy="87782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0" y="2249424"/>
            <a:ext cx="1380744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20" b="1">
                <a:solidFill>
                  <a:srgbClr val="48E0D0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2523744"/>
            <a:ext cx="1380744" cy="365759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030" b="0">
                <a:solidFill>
                  <a:srgbClr val="C8D6E5"/>
                </a:solidFill>
                <a:latin typeface="Inter"/>
              </a:defRPr>
            </a:pPr>
            <a:r>
              <a:t>Social posts</a:t>
            </a:r>
          </a:p>
        </p:txBody>
      </p:sp>
      <p:sp>
        <p:nvSpPr>
          <p:cNvPr id="38" name="Oval 37"/>
          <p:cNvSpPr/>
          <p:nvPr/>
        </p:nvSpPr>
        <p:spPr>
          <a:xfrm>
            <a:off x="4849794" y="3809207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160520" y="3456432"/>
            <a:ext cx="1783080" cy="87782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61688" y="3621024"/>
            <a:ext cx="1380744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20" b="1">
                <a:solidFill>
                  <a:srgbClr val="48E0D0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61688" y="3895344"/>
            <a:ext cx="1380744" cy="365759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030" b="0">
                <a:solidFill>
                  <a:srgbClr val="C8D6E5"/>
                </a:solidFill>
                <a:latin typeface="Inter"/>
              </a:defRPr>
            </a:pPr>
            <a:r>
              <a:t>Transcript insights</a:t>
            </a:r>
          </a:p>
        </p:txBody>
      </p:sp>
      <p:sp>
        <p:nvSpPr>
          <p:cNvPr id="44" name="Oval 43"/>
          <p:cNvSpPr/>
          <p:nvPr/>
        </p:nvSpPr>
        <p:spPr>
          <a:xfrm>
            <a:off x="6756867" y="3809207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327648" y="3456432"/>
            <a:ext cx="1783080" cy="87782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28816" y="3621024"/>
            <a:ext cx="1380744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20" b="1">
                <a:solidFill>
                  <a:srgbClr val="48E0D0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28816" y="3895344"/>
            <a:ext cx="1380744" cy="365759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030" b="0">
                <a:solidFill>
                  <a:srgbClr val="C8D6E5"/>
                </a:solidFill>
                <a:latin typeface="Inter"/>
              </a:defRPr>
            </a:pPr>
            <a:r>
              <a:t>Case studies</a:t>
            </a:r>
          </a:p>
        </p:txBody>
      </p:sp>
      <p:sp>
        <p:nvSpPr>
          <p:cNvPr id="50" name="Oval 49"/>
          <p:cNvSpPr/>
          <p:nvPr/>
        </p:nvSpPr>
        <p:spPr>
          <a:xfrm>
            <a:off x="8655893" y="3809207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8485632" y="3456432"/>
            <a:ext cx="1783080" cy="87782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686800" y="3621024"/>
            <a:ext cx="1380744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20" b="1">
                <a:solidFill>
                  <a:srgbClr val="48E0D0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3895344"/>
            <a:ext cx="1380744" cy="365759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030" b="0">
                <a:solidFill>
                  <a:srgbClr val="C8D6E5"/>
                </a:solidFill>
                <a:latin typeface="Inter"/>
              </a:defRPr>
            </a:pPr>
            <a:r>
              <a:t>Sell sheets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51960" y="4956048"/>
            <a:ext cx="6126480" cy="658368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526280" y="5148072"/>
            <a:ext cx="5577840" cy="164592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 algn="ctr">
              <a:defRPr sz="1160" b="0">
                <a:solidFill>
                  <a:srgbClr val="C8D6E5"/>
                </a:solidFill>
                <a:latin typeface="Inter"/>
              </a:defRPr>
            </a:pPr>
            <a:r>
              <a:t>Use as pilot proof of a workflow pattern, not broad SaaS traction.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6446520"/>
            <a:ext cx="3657600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80" b="0">
                <a:solidFill>
                  <a:srgbClr val="A6B6CA">
                    <a:alpha val="84000"/>
                  </a:srgbClr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89920" y="6446520"/>
            <a:ext cx="777240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80" b="0">
                <a:solidFill>
                  <a:srgbClr val="A6B6CA">
                    <a:alpha val="84000"/>
                  </a:srgbClr>
                </a:solidFill>
                <a:latin typeface="Inter"/>
              </a:defRPr>
            </a:pPr>
            <a:r>
              <a:t>06/12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502920"/>
            <a:ext cx="2194560" cy="2194560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4892040"/>
            <a:ext cx="1508760" cy="150876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1">
                <a:solidFill>
                  <a:srgbClr val="48E0D0"/>
                </a:solidFill>
                <a:latin typeface="Inter"/>
              </a:defRPr>
            </a:pPr>
            <a:r>
              <a:t>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8431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0">
                <a:solidFill>
                  <a:srgbClr val="A6B6CA">
                    <a:alpha val="72000"/>
                  </a:srgbClr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1663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0">
                <a:solidFill>
                  <a:srgbClr val="A6B6CA">
                    <a:alpha val="72000"/>
                  </a:srgbClr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4895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0">
                <a:solidFill>
                  <a:srgbClr val="A6B6CA">
                    <a:alpha val="72000"/>
                  </a:srgbClr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042415"/>
            <a:ext cx="4389120" cy="190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40" b="1">
                <a:solidFill>
                  <a:srgbClr val="48E0D0"/>
                </a:solidFill>
                <a:latin typeface="Inter"/>
              </a:defRPr>
            </a:pPr>
            <a:r>
              <a:t>MARKET +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350" b="1">
                <a:solidFill>
                  <a:srgbClr val="F7FBFF"/>
                </a:solidFill>
                <a:latin typeface="Inter"/>
              </a:defRPr>
            </a:pPr>
            <a:r>
              <a:t>Start where expertise becomes deliverables.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52928"/>
            <a:ext cx="5120640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50" b="0">
                <a:solidFill>
                  <a:srgbClr val="C8D6E5"/>
                </a:solidFill>
                <a:latin typeface="Inter"/>
              </a:defRPr>
            </a:pPr>
            <a:r>
              <a:t>Founder-led pilots reveal the repeatable workspace subscription modules.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231136"/>
            <a:ext cx="3200400" cy="239572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9848" y="2395728"/>
            <a:ext cx="2798064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20" b="1">
                <a:solidFill>
                  <a:srgbClr val="48E0D0"/>
                </a:solidFill>
                <a:latin typeface="Inter"/>
              </a:defRPr>
            </a:pPr>
            <a:r>
              <a:t>IDEAL EARLY CUSTOMER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2670048"/>
            <a:ext cx="2798064" cy="1883664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300" b="0">
                <a:solidFill>
                  <a:srgbClr val="C8D6E5"/>
                </a:solidFill>
                <a:latin typeface="Inter"/>
              </a:defRPr>
            </a:pPr>
            <a:r>
              <a:t>Boutique agencies, consultants, coaches, professional services firms, and expert-led businesses already using Microsoft 365.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98848" y="2231136"/>
            <a:ext cx="3200400" cy="239572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00016" y="2395728"/>
            <a:ext cx="2798064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20" b="1">
                <a:solidFill>
                  <a:srgbClr val="48E0D0"/>
                </a:solidFill>
                <a:latin typeface="Inter"/>
              </a:defRPr>
            </a:pPr>
            <a:r>
              <a:t>INITIAL PROMISE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2670048"/>
            <a:ext cx="2798064" cy="1883664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300" b="0">
                <a:solidFill>
                  <a:srgbClr val="C8D6E5"/>
                </a:solidFill>
                <a:latin typeface="Inter"/>
              </a:defRPr>
            </a:pPr>
            <a:r>
              <a:t>Turn client meetings and source material into approved deliverables, updates, and follow-up inside the tools the firm already uses.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2231136"/>
            <a:ext cx="3200400" cy="239572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2395728"/>
            <a:ext cx="2798064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20" b="1">
                <a:solidFill>
                  <a:srgbClr val="48E0D0"/>
                </a:solidFill>
                <a:latin typeface="Inter"/>
              </a:defRPr>
            </a:pPr>
            <a:r>
              <a:t>REVENUE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670048"/>
            <a:ext cx="2798064" cy="1883664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300" b="0">
                <a:solidFill>
                  <a:srgbClr val="C8D6E5"/>
                </a:solidFill>
                <a:latin typeface="Inter"/>
              </a:defRPr>
            </a:pPr>
            <a:r>
              <a:t>Pilot setup fee plus monthly subscription by clients/projects, agent seats, integrations, outputs, and premium workflow modules.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522976"/>
            <a:ext cx="10012680" cy="329184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 algn="ctr">
              <a:defRPr sz="1300" b="0">
                <a:solidFill>
                  <a:srgbClr val="C8D6E5"/>
                </a:solidFill>
                <a:latin typeface="Inter"/>
              </a:defRPr>
            </a:pPr>
            <a:r>
              <a:t>Ann Arbor/Michigan is the launch network and credibility base, not the market ceiling.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46520"/>
            <a:ext cx="3657600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80" b="0">
                <a:solidFill>
                  <a:srgbClr val="A6B6CA">
                    <a:alpha val="84000"/>
                  </a:srgbClr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777240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80" b="0">
                <a:solidFill>
                  <a:srgbClr val="A6B6CA">
                    <a:alpha val="84000"/>
                  </a:srgbClr>
                </a:solidFill>
                <a:latin typeface="Inter"/>
              </a:defRPr>
            </a:pPr>
            <a:r>
              <a:t>07/12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502920"/>
            <a:ext cx="2194560" cy="21945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4892040"/>
            <a:ext cx="1508760" cy="150876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1">
                <a:solidFill>
                  <a:srgbClr val="48E0D0"/>
                </a:solidFill>
                <a:latin typeface="Inter"/>
              </a:defRPr>
            </a:pPr>
            <a:r>
              <a:t>GTM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8431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0">
                <a:solidFill>
                  <a:srgbClr val="A6B6CA">
                    <a:alpha val="72000"/>
                  </a:srgbClr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1663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0">
                <a:solidFill>
                  <a:srgbClr val="A6B6CA">
                    <a:alpha val="72000"/>
                  </a:srgbClr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4895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0">
                <a:solidFill>
                  <a:srgbClr val="A6B6CA">
                    <a:alpha val="72000"/>
                  </a:srgbClr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042415"/>
            <a:ext cx="4389120" cy="190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40" b="1">
                <a:solidFill>
                  <a:srgbClr val="48E0D0"/>
                </a:solidFill>
                <a:latin typeface="Inter"/>
              </a:defRPr>
            </a:pPr>
            <a:r>
              <a:t>GO TO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350" b="1">
                <a:solidFill>
                  <a:srgbClr val="F7FBFF"/>
                </a:solidFill>
                <a:latin typeface="Inter"/>
              </a:defRPr>
            </a:pPr>
            <a:r>
              <a:t>Founder-led pilots create the first playbook.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52928"/>
            <a:ext cx="5120640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50" b="0">
                <a:solidFill>
                  <a:srgbClr val="C8D6E5"/>
                </a:solidFill>
                <a:latin typeface="Inter"/>
              </a:defRPr>
            </a:pPr>
            <a:r>
              <a:t>Sell one concrete workflow, measure the outputs, then template the repeatable pieces.</a:t>
            </a:r>
          </a:p>
        </p:txBody>
      </p:sp>
      <p:sp>
        <p:nvSpPr>
          <p:cNvPr id="13" name="Rounded Rectangle 12"/>
          <p:cNvSpPr/>
          <p:nvPr/>
        </p:nvSpPr>
        <p:spPr>
          <a:solidFill>
            <a:srgbClr val="48E0D0">
              <a:alpha val="93000"/>
            </a:srgbClr>
          </a:solidFill>
          <a:xfrm>
            <a:off x="1499616" y="2359152"/>
            <a:ext cx="274320" cy="381000"/>
          </a:xfrm>
          <a:prstGeom prst="roundRect">
            <a:avLst/>
          </a:prstGeom>
          <a:ln w="11430">
            <a:solidFill>
              <a:srgbClr val="48E0D0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mid" lIns="104775" rIns="104775" tIns="85725" bIns="85725"/>
          <a:lstStyle/>
          <a:p>
            <a:pPr algn="ctr">
              <a:defRPr sz="950" b="1">
                <a:solidFill>
                  <a:srgbClr val="061423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88920"/>
            <a:ext cx="2057400" cy="98755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2953512"/>
            <a:ext cx="1655064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20" b="1">
                <a:solidFill>
                  <a:srgbClr val="48E0D0"/>
                </a:solidFill>
                <a:latin typeface="Inter"/>
              </a:defRPr>
            </a:pPr>
            <a:r>
              <a:t>INTRODUCTIONS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3227832"/>
            <a:ext cx="1655064" cy="475488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030" b="0">
                <a:solidFill>
                  <a:srgbClr val="C8D6E5"/>
                </a:solidFill>
                <a:latin typeface="Inter"/>
              </a:defRPr>
            </a:pPr>
            <a:r>
              <a:t>angels, operators, agencies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43200" y="3273552"/>
            <a:ext cx="219456" cy="0"/>
          </a:xfrm>
          <a:prstGeom prst="line">
            <a:avLst/>
          </a:prstGeom>
          <a:ln w="13970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728386" y="3232404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895173" y="3232404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solidFill>
            <a:srgbClr val="102942">
              <a:alpha val="82000"/>
            </a:srgbClr>
          </a:solidFill>
          <a:xfrm>
            <a:off x="3803904" y="2359152"/>
            <a:ext cx="274320" cy="381000"/>
          </a:xfrm>
          <a:prstGeom prst="roundRect">
            <a:avLst/>
          </a:prstGeom>
          <a:ln w="11430">
            <a:solidFill>
              <a:srgbClr val="375F79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mid" lIns="104775" rIns="104775" tIns="85725" bIns="85725"/>
          <a:lstStyle/>
          <a:p>
            <a:pPr algn="ctr">
              <a:defRPr sz="980" b="1">
                <a:solidFill>
                  <a:srgbClr val="F7FBFF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62656" y="2788920"/>
            <a:ext cx="2057400" cy="98755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63824" y="2953512"/>
            <a:ext cx="1655064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20" b="1">
                <a:solidFill>
                  <a:srgbClr val="48E0D0"/>
                </a:solidFill>
                <a:latin typeface="Inter"/>
              </a:defRPr>
            </a:pPr>
            <a:r>
              <a:t>RAMAIR-STYLE PILOT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63824" y="3227832"/>
            <a:ext cx="1655064" cy="475488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030" b="0">
                <a:solidFill>
                  <a:srgbClr val="C8D6E5"/>
                </a:solidFill>
                <a:latin typeface="Inter"/>
              </a:defRPr>
            </a:pPr>
            <a:r>
              <a:t>one workflow, visible outputs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47488" y="3273552"/>
            <a:ext cx="219456" cy="0"/>
          </a:xfrm>
          <a:prstGeom prst="line">
            <a:avLst/>
          </a:prstGeom>
          <a:ln w="13970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5032674" y="3232404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199461" y="3232404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solidFill>
            <a:srgbClr val="102942">
              <a:alpha val="82000"/>
            </a:srgbClr>
          </a:solidFill>
          <a:xfrm>
            <a:off x="6108192" y="2359152"/>
            <a:ext cx="274320" cy="381000"/>
          </a:xfrm>
          <a:prstGeom prst="roundRect">
            <a:avLst/>
          </a:prstGeom>
          <a:ln w="11430">
            <a:solidFill>
              <a:srgbClr val="375F79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mid" lIns="104775" rIns="104775" tIns="85725" bIns="85725"/>
          <a:lstStyle/>
          <a:p>
            <a:pPr algn="ctr">
              <a:defRPr sz="980" b="1">
                <a:solidFill>
                  <a:srgbClr val="F7FBFF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66944" y="2788920"/>
            <a:ext cx="2057400" cy="98755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68112" y="2953512"/>
            <a:ext cx="1655064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20" b="1">
                <a:solidFill>
                  <a:srgbClr val="48E0D0"/>
                </a:solidFill>
                <a:latin typeface="Inter"/>
              </a:defRPr>
            </a:pPr>
            <a:r>
              <a:t>PROOF METRICS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68112" y="3227832"/>
            <a:ext cx="1655064" cy="475488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030" b="0">
                <a:solidFill>
                  <a:srgbClr val="C8D6E5"/>
                </a:solidFill>
                <a:latin typeface="Inter"/>
              </a:defRPr>
            </a:pPr>
            <a:r>
              <a:t>time saved, output cadence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351775" y="3273552"/>
            <a:ext cx="219456" cy="0"/>
          </a:xfrm>
          <a:prstGeom prst="line">
            <a:avLst/>
          </a:prstGeom>
          <a:ln w="13970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7336962" y="3232404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503749" y="3232404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solidFill>
            <a:srgbClr val="102942">
              <a:alpha val="82000"/>
            </a:srgbClr>
          </a:solidFill>
          <a:xfrm>
            <a:off x="8412480" y="2359152"/>
            <a:ext cx="274320" cy="381000"/>
          </a:xfrm>
          <a:prstGeom prst="roundRect">
            <a:avLst/>
          </a:prstGeom>
          <a:ln w="11430">
            <a:solidFill>
              <a:srgbClr val="375F79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mid" lIns="104775" rIns="104775" tIns="85725" bIns="85725"/>
          <a:lstStyle/>
          <a:p>
            <a:pPr algn="ctr">
              <a:defRPr sz="980" b="1">
                <a:solidFill>
                  <a:srgbClr val="F7FBFF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71231" y="2788920"/>
            <a:ext cx="2057400" cy="98755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0" y="2953512"/>
            <a:ext cx="1655064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20" b="1">
                <a:solidFill>
                  <a:srgbClr val="48E0D0"/>
                </a:solidFill>
                <a:latin typeface="Inter"/>
              </a:defRPr>
            </a:pPr>
            <a:r>
              <a:t>TEMPLATES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3227832"/>
            <a:ext cx="1655064" cy="475488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030" b="0">
                <a:solidFill>
                  <a:srgbClr val="C8D6E5"/>
                </a:solidFill>
                <a:latin typeface="Inter"/>
              </a:defRPr>
            </a:pPr>
            <a:r>
              <a:t>notes, packets, dashboards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656063" y="3273552"/>
            <a:ext cx="219456" cy="0"/>
          </a:xfrm>
          <a:prstGeom prst="line">
            <a:avLst/>
          </a:prstGeom>
          <a:ln w="13970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9641250" y="3232404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808037" y="3232404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solidFill>
            <a:srgbClr val="102942">
              <a:alpha val="82000"/>
            </a:srgbClr>
          </a:solidFill>
          <a:xfrm>
            <a:off x="10716767" y="2359152"/>
            <a:ext cx="274320" cy="381000"/>
          </a:xfrm>
          <a:prstGeom prst="roundRect">
            <a:avLst/>
          </a:prstGeom>
          <a:ln w="11430">
            <a:solidFill>
              <a:srgbClr val="375F79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mid" lIns="104775" rIns="104775" tIns="85725" bIns="85725"/>
          <a:lstStyle/>
          <a:p>
            <a:pPr algn="ctr">
              <a:defRPr sz="980" b="1">
                <a:solidFill>
                  <a:srgbClr val="F7FBFF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75519" y="2788920"/>
            <a:ext cx="2057400" cy="98755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076688" y="2953512"/>
            <a:ext cx="1655064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20" b="1">
                <a:solidFill>
                  <a:srgbClr val="48E0D0"/>
                </a:solidFill>
                <a:latin typeface="Inter"/>
              </a:defRPr>
            </a:pPr>
            <a:r>
              <a:t>REFERRALS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76688" y="3227832"/>
            <a:ext cx="1655064" cy="475488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030" b="0">
                <a:solidFill>
                  <a:srgbClr val="C8D6E5"/>
                </a:solidFill>
                <a:latin typeface="Inter"/>
              </a:defRPr>
            </a:pPr>
            <a:r>
              <a:t>adjacent firms, same pain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" y="5440680"/>
            <a:ext cx="10149840" cy="365760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 algn="ctr">
              <a:defRPr sz="1400" b="0">
                <a:solidFill>
                  <a:srgbClr val="C8D6E5"/>
                </a:solidFill>
                <a:latin typeface="Inter"/>
              </a:defRPr>
            </a:pPr>
            <a:r>
              <a:t>3-5 pilots are enough to convert a services-assisted motion into a productized client-workspace package.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446520"/>
            <a:ext cx="3657600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80" b="0">
                <a:solidFill>
                  <a:srgbClr val="A6B6CA">
                    <a:alpha val="84000"/>
                  </a:srgbClr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446520"/>
            <a:ext cx="777240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80" b="0">
                <a:solidFill>
                  <a:srgbClr val="A6B6CA">
                    <a:alpha val="84000"/>
                  </a:srgbClr>
                </a:solidFill>
                <a:latin typeface="Inter"/>
              </a:defRPr>
            </a:pPr>
            <a:r>
              <a:t>08/12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502920"/>
            <a:ext cx="2194560" cy="21945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4892040"/>
            <a:ext cx="1508760" cy="150876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1">
                <a:solidFill>
                  <a:srgbClr val="48E0D0"/>
                </a:solidFill>
                <a:latin typeface="Inter"/>
              </a:defRPr>
            </a:pPr>
            <a:r>
              <a:t>DIFFERENTIATION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8431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0">
                <a:solidFill>
                  <a:srgbClr val="A6B6CA">
                    <a:alpha val="72000"/>
                  </a:srgbClr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1663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0">
                <a:solidFill>
                  <a:srgbClr val="A6B6CA">
                    <a:alpha val="72000"/>
                  </a:srgbClr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4895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0">
                <a:solidFill>
                  <a:srgbClr val="A6B6CA">
                    <a:alpha val="72000"/>
                  </a:srgbClr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042415"/>
            <a:ext cx="4389120" cy="190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40" b="1">
                <a:solidFill>
                  <a:srgbClr val="48E0D0"/>
                </a:solidFill>
                <a:latin typeface="Inter"/>
              </a:defRPr>
            </a:pPr>
            <a:r>
              <a:t>DIFFERENTIATION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350" b="1">
                <a:solidFill>
                  <a:srgbClr val="F7FBFF"/>
                </a:solidFill>
                <a:latin typeface="Inter"/>
              </a:defRPr>
            </a:pPr>
            <a:r>
              <a:t>Not another blank chat box.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52928"/>
            <a:ext cx="5120640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50" b="0">
                <a:solidFill>
                  <a:srgbClr val="C8D6E5"/>
                </a:solidFill>
                <a:latin typeface="Inter"/>
              </a:defRPr>
            </a:pPr>
            <a:r>
              <a:t>ParlayVU combines memory, governance, and outputs in the Microsoft workflow where client work already happens.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331720"/>
            <a:ext cx="4251960" cy="107899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2496312"/>
            <a:ext cx="3849624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20" b="1">
                <a:solidFill>
                  <a:srgbClr val="48E0D0"/>
                </a:solidFill>
                <a:latin typeface="Inter"/>
              </a:defRPr>
            </a:pPr>
            <a:r>
              <a:t>GENERIC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770632"/>
            <a:ext cx="3849624" cy="566927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160" b="0">
                <a:solidFill>
                  <a:srgbClr val="C8D6E5"/>
                </a:solidFill>
                <a:latin typeface="Inter"/>
              </a:defRPr>
            </a:pPr>
            <a:r>
              <a:t>drafts content, but loses workflow context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913632"/>
            <a:ext cx="4251960" cy="107899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5568" y="4078224"/>
            <a:ext cx="3849624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20" b="1">
                <a:solidFill>
                  <a:srgbClr val="48E0D0"/>
                </a:solidFill>
                <a:latin typeface="Inter"/>
              </a:defRPr>
            </a:pPr>
            <a:r>
              <a:t>CONTENT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352544"/>
            <a:ext cx="3849624" cy="566927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160" b="0">
                <a:solidFill>
                  <a:srgbClr val="C8D6E5"/>
                </a:solidFill>
                <a:latin typeface="Inter"/>
              </a:defRPr>
            </a:pPr>
            <a:r>
              <a:t>help make assets, not client operations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2331720"/>
            <a:ext cx="4526280" cy="2651760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12280" y="2651760"/>
            <a:ext cx="3840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20" b="1">
                <a:solidFill>
                  <a:srgbClr val="48E0D0"/>
                </a:solidFill>
                <a:latin typeface="Inter"/>
              </a:defRPr>
            </a:pPr>
            <a:r>
              <a:t>PARLAYVU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3035808"/>
            <a:ext cx="3749039" cy="749808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2000" b="1">
                <a:solidFill>
                  <a:srgbClr val="F7FBFF"/>
                </a:solidFill>
                <a:latin typeface="Inter"/>
              </a:defRPr>
            </a:pPr>
            <a:r>
              <a:t>Coordinates client work across memory, agents, approvals, and outputs.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3136" y="4315968"/>
            <a:ext cx="3657600" cy="361950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030" b="0">
                <a:solidFill>
                  <a:srgbClr val="C8D6E5"/>
                </a:solidFill>
                <a:latin typeface="Inter"/>
              </a:defRPr>
            </a:pPr>
            <a:r>
              <a:t>Teams/M365 is the wedge. The durable value is governed agentic workflow.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79008" y="2148840"/>
            <a:ext cx="0" cy="3172968"/>
          </a:xfrm>
          <a:prstGeom prst="line">
            <a:avLst/>
          </a:prstGeom>
          <a:ln w="2032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6446520"/>
            <a:ext cx="3657600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80" b="0">
                <a:solidFill>
                  <a:srgbClr val="A6B6CA">
                    <a:alpha val="84000"/>
                  </a:srgbClr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777240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80" b="0">
                <a:solidFill>
                  <a:srgbClr val="A6B6CA">
                    <a:alpha val="84000"/>
                  </a:srgbClr>
                </a:solidFill>
                <a:latin typeface="Inter"/>
              </a:defRPr>
            </a:pPr>
            <a:r>
              <a:t>09/12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502920"/>
            <a:ext cx="2194560" cy="2194560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4892040"/>
            <a:ext cx="1508760" cy="150876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1">
                <a:solidFill>
                  <a:srgbClr val="48E0D0"/>
                </a:solidFill>
                <a:latin typeface="Inter"/>
              </a:defRPr>
            </a:pPr>
            <a: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8431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0">
                <a:solidFill>
                  <a:srgbClr val="A6B6CA">
                    <a:alpha val="72000"/>
                  </a:srgbClr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1663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0">
                <a:solidFill>
                  <a:srgbClr val="A6B6CA">
                    <a:alpha val="72000"/>
                  </a:srgbClr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4895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0">
                <a:solidFill>
                  <a:srgbClr val="A6B6CA">
                    <a:alpha val="72000"/>
                  </a:srgbClr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042415"/>
            <a:ext cx="4389120" cy="190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40" b="1">
                <a:solidFill>
                  <a:srgbClr val="48E0D0"/>
                </a:solidFill>
                <a:latin typeface="Inter"/>
              </a:defRPr>
            </a:pPr>
            <a:r>
              <a:t>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350" b="1">
                <a:solidFill>
                  <a:srgbClr val="F7FBFF"/>
                </a:solidFill>
                <a:latin typeface="Inter"/>
              </a:defRPr>
            </a:pPr>
            <a:r>
              <a:t>90 days to pilot-ready product.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52928"/>
            <a:ext cx="5120640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50" b="0">
                <a:solidFill>
                  <a:srgbClr val="C8D6E5"/>
                </a:solidFill>
                <a:latin typeface="Inter"/>
              </a:defRPr>
            </a:pPr>
            <a:r>
              <a:t>Sequence core workflow hardening before making bigger native media claims.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34440" y="2907792"/>
            <a:ext cx="9326880" cy="0"/>
          </a:xfrm>
          <a:prstGeom prst="line">
            <a:avLst/>
          </a:prstGeom>
          <a:ln w="15875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435607" y="2871216"/>
            <a:ext cx="91440" cy="9144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68680" y="2487168"/>
            <a:ext cx="2395728" cy="120700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9848" y="2651760"/>
            <a:ext cx="1993392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20" b="1">
                <a:solidFill>
                  <a:srgbClr val="48E0D0"/>
                </a:solidFill>
                <a:latin typeface="Inter"/>
              </a:defRPr>
            </a:pPr>
            <a:r>
              <a:t>30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2926080"/>
            <a:ext cx="1993392" cy="694944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030" b="0">
                <a:solidFill>
                  <a:srgbClr val="C8D6E5"/>
                </a:solidFill>
                <a:latin typeface="Inter"/>
              </a:defRPr>
            </a:pPr>
            <a:r>
              <a:t>Polish RamAir workspace, notes, approvals, readiness, demo script</a:t>
            </a:r>
          </a:p>
        </p:txBody>
      </p:sp>
      <p:sp>
        <p:nvSpPr>
          <p:cNvPr id="18" name="Oval 17"/>
          <p:cNvSpPr/>
          <p:nvPr/>
        </p:nvSpPr>
        <p:spPr>
          <a:xfrm>
            <a:off x="4178808" y="2871216"/>
            <a:ext cx="91440" cy="9144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611880" y="2487168"/>
            <a:ext cx="2395728" cy="120700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13048" y="2651760"/>
            <a:ext cx="1993392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20" b="1">
                <a:solidFill>
                  <a:srgbClr val="48E0D0"/>
                </a:solidFill>
                <a:latin typeface="Inter"/>
              </a:defRPr>
            </a:pPr>
            <a:r>
              <a:t>60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3048" y="2926080"/>
            <a:ext cx="1993392" cy="694944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030" b="0">
                <a:solidFill>
                  <a:srgbClr val="C8D6E5"/>
                </a:solidFill>
                <a:latin typeface="Inter"/>
              </a:defRPr>
            </a:pPr>
            <a:r>
              <a:t>Package onboarding templates and run 3-5 qualified pilot conversations</a:t>
            </a:r>
          </a:p>
        </p:txBody>
      </p:sp>
      <p:sp>
        <p:nvSpPr>
          <p:cNvPr id="22" name="Oval 21"/>
          <p:cNvSpPr/>
          <p:nvPr/>
        </p:nvSpPr>
        <p:spPr>
          <a:xfrm>
            <a:off x="6922008" y="2871216"/>
            <a:ext cx="91440" cy="9144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355080" y="2487168"/>
            <a:ext cx="2395728" cy="120700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56248" y="2651760"/>
            <a:ext cx="1993392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20" b="1">
                <a:solidFill>
                  <a:srgbClr val="48E0D0"/>
                </a:solidFill>
                <a:latin typeface="Inter"/>
              </a:defRPr>
            </a:pPr>
            <a:r>
              <a:t>90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6248" y="2926080"/>
            <a:ext cx="1993392" cy="694944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030" b="0">
                <a:solidFill>
                  <a:srgbClr val="C8D6E5"/>
                </a:solidFill>
                <a:latin typeface="Inter"/>
              </a:defRPr>
            </a:pPr>
            <a:r>
              <a:t>Paid pilots or LOIs, measurable outputs, pricing and module clarity</a:t>
            </a:r>
          </a:p>
        </p:txBody>
      </p:sp>
      <p:sp>
        <p:nvSpPr>
          <p:cNvPr id="26" name="Oval 25"/>
          <p:cNvSpPr/>
          <p:nvPr/>
        </p:nvSpPr>
        <p:spPr>
          <a:xfrm>
            <a:off x="9665207" y="2871216"/>
            <a:ext cx="91440" cy="9144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098280" y="2487168"/>
            <a:ext cx="2395728" cy="120700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99448" y="2651760"/>
            <a:ext cx="1993392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20" b="1">
                <a:solidFill>
                  <a:srgbClr val="48E0D0"/>
                </a:solidFill>
                <a:latin typeface="Inter"/>
              </a:defRPr>
            </a:pPr>
            <a:r>
              <a:t>LATER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9448" y="2926080"/>
            <a:ext cx="1993392" cy="694944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030" b="0">
                <a:solidFill>
                  <a:srgbClr val="C8D6E5"/>
                </a:solidFill>
                <a:latin typeface="Inter"/>
              </a:defRPr>
            </a:pPr>
            <a:r>
              <a:t>Validate native Teams roster/media bridge after Graph and provider terms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46520"/>
            <a:ext cx="3657600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80" b="0">
                <a:solidFill>
                  <a:srgbClr val="A6B6CA">
                    <a:alpha val="84000"/>
                  </a:srgbClr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46520"/>
            <a:ext cx="777240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80" b="0">
                <a:solidFill>
                  <a:srgbClr val="A6B6CA">
                    <a:alpha val="84000"/>
                  </a:srgbClr>
                </a:solidFill>
                <a:latin typeface="Inter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502920"/>
            <a:ext cx="2194560" cy="21945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4892040"/>
            <a:ext cx="1508760" cy="150876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1">
                <a:solidFill>
                  <a:srgbClr val="48E0D0"/>
                </a:solidFill>
                <a:latin typeface="Inter"/>
              </a:defRPr>
            </a:pPr>
            <a:r>
              <a:t>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8431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0">
                <a:solidFill>
                  <a:srgbClr val="A6B6CA">
                    <a:alpha val="72000"/>
                  </a:srgbClr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1663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0">
                <a:solidFill>
                  <a:srgbClr val="A6B6CA">
                    <a:alpha val="72000"/>
                  </a:srgbClr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4895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0">
                <a:solidFill>
                  <a:srgbClr val="A6B6CA">
                    <a:alpha val="72000"/>
                  </a:srgbClr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042415"/>
            <a:ext cx="4389120" cy="190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40" b="1">
                <a:solidFill>
                  <a:srgbClr val="48E0D0"/>
                </a:solidFill>
                <a:latin typeface="Inter"/>
              </a:defRPr>
            </a:pPr>
            <a:r>
              <a:t>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350" b="1">
                <a:solidFill>
                  <a:srgbClr val="F7FBFF"/>
                </a:solidFill>
                <a:latin typeface="Inter"/>
              </a:defRPr>
            </a:pPr>
            <a:r>
              <a:t>Raising $100k-$300k to turn proof into revenue.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52928"/>
            <a:ext cx="5120640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50" b="0">
                <a:solidFill>
                  <a:srgbClr val="C8D6E5"/>
                </a:solidFill>
                <a:latin typeface="Inter"/>
              </a:defRPr>
            </a:pPr>
            <a:r>
              <a:t>Capital plus pilot/customer introductions are equally valuable at this stage.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2176272"/>
            <a:ext cx="2606040" cy="1234440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9264" y="2304288"/>
            <a:ext cx="2276856" cy="384048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2200" b="1">
                <a:solidFill>
                  <a:srgbClr val="F7FBFF"/>
                </a:solidFill>
                <a:latin typeface="Inter"/>
              </a:defRPr>
            </a:pPr>
            <a:r>
              <a:t>$100k–$300k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2706624"/>
            <a:ext cx="2276856" cy="361950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>
              <a:defRPr sz="1030" b="0">
                <a:solidFill>
                  <a:srgbClr val="C8D6E5"/>
                </a:solidFill>
                <a:latin typeface="Inter"/>
              </a:defRPr>
            </a:pPr>
            <a:r>
              <a:t>Angel / pre-seed raise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04120" y="4736592"/>
            <a:ext cx="268833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104120" y="4846320"/>
            <a:ext cx="396849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104120" y="4956048"/>
            <a:ext cx="563270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692993" y="4791455"/>
            <a:ext cx="70408" cy="70408"/>
          </a:xfrm>
          <a:prstGeom prst="ellipse">
            <a:avLst/>
          </a:prstGeom>
          <a:solidFill>
            <a:srgbClr val="48E0D0"/>
          </a:solidFill>
          <a:ln w="952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solidFill>
            <a:srgbClr val="102942">
              <a:alpha val="82000"/>
            </a:srgbClr>
          </a:solidFill>
          <a:xfrm>
            <a:off x="3703320" y="2084831"/>
            <a:ext cx="2139696" cy="457200"/>
          </a:xfrm>
          <a:prstGeom prst="roundRect">
            <a:avLst/>
          </a:prstGeom>
          <a:ln w="11430">
            <a:solidFill>
              <a:srgbClr val="375F79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mid" lIns="104775" rIns="104775" tIns="85725" bIns="85725"/>
          <a:lstStyle/>
          <a:p>
            <a:pPr algn="ctr">
              <a:defRPr sz="980" b="1">
                <a:solidFill>
                  <a:srgbClr val="F7FBFF"/>
                </a:solidFill>
                <a:latin typeface="Inter"/>
              </a:defRPr>
            </a:pPr>
            <a:r>
              <a:t>Product hardening</a:t>
            </a:r>
          </a:p>
        </p:txBody>
      </p:sp>
      <p:sp>
        <p:nvSpPr>
          <p:cNvPr id="21" name="Rounded Rectangle 20"/>
          <p:cNvSpPr/>
          <p:nvPr/>
        </p:nvSpPr>
        <p:spPr>
          <a:solidFill>
            <a:srgbClr val="102942">
              <a:alpha val="82000"/>
            </a:srgbClr>
          </a:solidFill>
          <a:xfrm>
            <a:off x="6327648" y="2084831"/>
            <a:ext cx="2139696" cy="457200"/>
          </a:xfrm>
          <a:prstGeom prst="roundRect">
            <a:avLst/>
          </a:prstGeom>
          <a:ln w="11430">
            <a:solidFill>
              <a:srgbClr val="375F79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mid" lIns="104775" rIns="104775" tIns="85725" bIns="85725"/>
          <a:lstStyle/>
          <a:p>
            <a:pPr algn="ctr">
              <a:defRPr sz="980" b="1">
                <a:solidFill>
                  <a:srgbClr val="F7FBFF"/>
                </a:solidFill>
                <a:latin typeface="Inter"/>
              </a:defRPr>
            </a:pPr>
            <a:r>
              <a:t>Pilot delivery</a:t>
            </a:r>
          </a:p>
        </p:txBody>
      </p:sp>
      <p:sp>
        <p:nvSpPr>
          <p:cNvPr id="22" name="Rounded Rectangle 21"/>
          <p:cNvSpPr/>
          <p:nvPr/>
        </p:nvSpPr>
        <p:spPr>
          <a:solidFill>
            <a:srgbClr val="102942">
              <a:alpha val="82000"/>
            </a:srgbClr>
          </a:solidFill>
          <a:xfrm>
            <a:off x="8942832" y="2084831"/>
            <a:ext cx="2139696" cy="457200"/>
          </a:xfrm>
          <a:prstGeom prst="roundRect">
            <a:avLst/>
          </a:prstGeom>
          <a:ln w="11430">
            <a:solidFill>
              <a:srgbClr val="375F79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mid" lIns="104775" rIns="104775" tIns="85725" bIns="85725"/>
          <a:lstStyle/>
          <a:p>
            <a:pPr algn="ctr">
              <a:defRPr sz="980" b="1">
                <a:solidFill>
                  <a:srgbClr val="F7FBFF"/>
                </a:solidFill>
                <a:latin typeface="Inter"/>
              </a:defRPr>
            </a:pPr>
            <a:r>
              <a:t>M365 / Teams integration</a:t>
            </a:r>
          </a:p>
        </p:txBody>
      </p:sp>
      <p:sp>
        <p:nvSpPr>
          <p:cNvPr id="23" name="Rounded Rectangle 22"/>
          <p:cNvSpPr/>
          <p:nvPr/>
        </p:nvSpPr>
        <p:spPr>
          <a:solidFill>
            <a:srgbClr val="102942">
              <a:alpha val="82000"/>
            </a:srgbClr>
          </a:solidFill>
          <a:xfrm>
            <a:off x="3703320" y="3703320"/>
            <a:ext cx="2139696" cy="457200"/>
          </a:xfrm>
          <a:prstGeom prst="roundRect">
            <a:avLst/>
          </a:prstGeom>
          <a:ln w="11430">
            <a:solidFill>
              <a:srgbClr val="375F79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mid" lIns="104775" rIns="104775" tIns="85725" bIns="85725"/>
          <a:lstStyle/>
          <a:p>
            <a:pPr algn="ctr">
              <a:defRPr sz="980" b="1">
                <a:solidFill>
                  <a:srgbClr val="F7FBFF"/>
                </a:solidFill>
                <a:latin typeface="Inter"/>
              </a:defRPr>
            </a:pPr>
            <a:r>
              <a:t>Avatar validation</a:t>
            </a:r>
          </a:p>
        </p:txBody>
      </p:sp>
      <p:sp>
        <p:nvSpPr>
          <p:cNvPr id="24" name="Rounded Rectangle 23"/>
          <p:cNvSpPr/>
          <p:nvPr/>
        </p:nvSpPr>
        <p:spPr>
          <a:solidFill>
            <a:srgbClr val="102942">
              <a:alpha val="82000"/>
            </a:srgbClr>
          </a:solidFill>
          <a:xfrm>
            <a:off x="6327648" y="3703320"/>
            <a:ext cx="2139696" cy="457200"/>
          </a:xfrm>
          <a:prstGeom prst="roundRect">
            <a:avLst/>
          </a:prstGeom>
          <a:ln w="11430">
            <a:solidFill>
              <a:srgbClr val="375F79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mid" lIns="104775" rIns="104775" tIns="85725" bIns="85725"/>
          <a:lstStyle/>
          <a:p>
            <a:pPr algn="ctr">
              <a:defRPr sz="980" b="1">
                <a:solidFill>
                  <a:srgbClr val="F7FBFF"/>
                </a:solidFill>
                <a:latin typeface="Inter"/>
              </a:defRPr>
            </a:pPr>
            <a:r>
              <a:t>Design + pitch assets</a:t>
            </a:r>
          </a:p>
        </p:txBody>
      </p:sp>
      <p:sp>
        <p:nvSpPr>
          <p:cNvPr id="25" name="Rounded Rectangle 24"/>
          <p:cNvSpPr/>
          <p:nvPr/>
        </p:nvSpPr>
        <p:spPr>
          <a:solidFill>
            <a:srgbClr val="102942">
              <a:alpha val="82000"/>
            </a:srgbClr>
          </a:solidFill>
          <a:xfrm>
            <a:off x="8942832" y="3703320"/>
            <a:ext cx="2139696" cy="457200"/>
          </a:xfrm>
          <a:prstGeom prst="roundRect">
            <a:avLst/>
          </a:prstGeom>
          <a:ln w="11430">
            <a:solidFill>
              <a:srgbClr val="375F79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mid" lIns="104775" rIns="104775" tIns="85725" bIns="85725"/>
          <a:lstStyle/>
          <a:p>
            <a:pPr algn="ctr">
              <a:defRPr sz="980" b="1">
                <a:solidFill>
                  <a:srgbClr val="F7FBFF"/>
                </a:solidFill>
                <a:latin typeface="Inter"/>
              </a:defRPr>
            </a:pPr>
            <a:r>
              <a:t>Founder-led GTM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" y="5321808"/>
            <a:ext cx="10058400" cy="566928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80160" y="5504688"/>
            <a:ext cx="9491472" cy="164592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 algn="ctr">
              <a:defRPr sz="1160" b="0">
                <a:solidFill>
                  <a:srgbClr val="C8D6E5"/>
                </a:solidFill>
                <a:latin typeface="Inter"/>
              </a:defRPr>
            </a:pPr>
            <a:r>
              <a:t>Target: RamAir polished, 3-5 qualified pilots active, first paid pilots or signed LOIs within 90 days of funding.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46520"/>
            <a:ext cx="3657600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80" b="0">
                <a:solidFill>
                  <a:srgbClr val="A6B6CA">
                    <a:alpha val="84000"/>
                  </a:srgbClr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777240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80" b="0">
                <a:solidFill>
                  <a:srgbClr val="A6B6CA">
                    <a:alpha val="84000"/>
                  </a:srgbClr>
                </a:solidFill>
                <a:latin typeface="Inter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502920"/>
            <a:ext cx="2194560" cy="21945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4892040"/>
            <a:ext cx="1508760" cy="150876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1">
                <a:solidFill>
                  <a:srgbClr val="48E0D0"/>
                </a:solidFill>
                <a:latin typeface="Inter"/>
              </a:defRPr>
            </a:pPr>
            <a:r>
              <a:t>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8431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0">
                <a:solidFill>
                  <a:srgbClr val="A6B6CA">
                    <a:alpha val="72000"/>
                  </a:srgbClr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1663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0">
                <a:solidFill>
                  <a:srgbClr val="A6B6CA">
                    <a:alpha val="72000"/>
                  </a:srgbClr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4895" y="347472"/>
            <a:ext cx="857250" cy="1619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0">
                <a:solidFill>
                  <a:srgbClr val="A6B6CA">
                    <a:alpha val="72000"/>
                  </a:srgbClr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234440"/>
            <a:ext cx="786384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4200" b="1">
                <a:solidFill>
                  <a:srgbClr val="F7FBFF"/>
                </a:solidFill>
                <a:latin typeface="Inter"/>
              </a:defRPr>
            </a:pPr>
            <a:r>
              <a:t>VU is your brand.</a:t>
            </a:r>
            <a:br/>
            <a:r>
              <a:t>Parlay your VU.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71800"/>
            <a:ext cx="5349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50" b="0">
                <a:solidFill>
                  <a:srgbClr val="C8D6E5"/>
                </a:solidFill>
                <a:latin typeface="Inter"/>
              </a:defRPr>
            </a:pPr>
            <a:r>
              <a:t>ParlayVU turns every client interaction into approved work, reusable memory, and distribution-ready output.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2011680"/>
            <a:ext cx="3566160" cy="224028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88352" y="2423160"/>
            <a:ext cx="2852928" cy="292608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 algn="ctr">
              <a:defRPr sz="2100" b="1">
                <a:solidFill>
                  <a:srgbClr val="F7FBFF"/>
                </a:solidFill>
                <a:latin typeface="Inter"/>
              </a:defRPr>
            </a:pPr>
            <a:r>
              <a:t>Investor 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3063240"/>
            <a:ext cx="2560320" cy="685800"/>
          </a:xfrm>
          <a:prstGeom prst="rect">
            <a:avLst/>
          </a:prstGeom>
          <a:noFill/>
        </p:spPr>
        <p:txBody>
          <a:bodyPr wrap="square" anchor="t" lIns="38100" rIns="38100" tIns="38100" bIns="38100">
            <a:spAutoFit/>
          </a:bodyPr>
          <a:lstStyle/>
          <a:p>
            <a:pPr algn="ctr">
              <a:defRPr sz="1320" b="0">
                <a:solidFill>
                  <a:srgbClr val="C8D6E5"/>
                </a:solidFill>
                <a:latin typeface="Inter"/>
              </a:defRPr>
            </a:pPr>
            <a:r>
              <a:t>Small checks
Pilot introductions
Microsoft 365 operator/customer intros</a:t>
            </a:r>
            <a:br/>
            <a:r>
              <a:t/>
            </a:r>
            <a:br/>
            <a:r>
              <a:t/>
            </a:r>
          </a:p>
        </p:txBody>
      </p:sp>
      <p:sp>
        <p:nvSpPr>
          <p:cNvPr id="15" name="Rounded Rectangle 14"/>
          <p:cNvSpPr/>
          <p:nvPr/>
        </p:nvSpPr>
        <p:spPr>
          <a:solidFill>
            <a:srgbClr val="48E0D0">
              <a:alpha val="93000"/>
            </a:srgbClr>
          </a:solidFill>
          <a:xfrm>
            <a:off x="7717536" y="4553712"/>
            <a:ext cx="2176272" cy="381000"/>
          </a:xfrm>
          <a:prstGeom prst="roundRect">
            <a:avLst/>
          </a:prstGeom>
          <a:ln w="11430">
            <a:solidFill>
              <a:srgbClr val="48E0D0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mid" lIns="104775" rIns="104775" tIns="85725" bIns="85725"/>
          <a:lstStyle/>
          <a:p>
            <a:pPr algn="ctr">
              <a:defRPr sz="950" b="1">
                <a:solidFill>
                  <a:srgbClr val="061423"/>
                </a:solidFill>
                <a:latin typeface="Inter"/>
              </a:defRPr>
            </a:pPr>
            <a:r>
              <a:t>Book a strategy 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46520"/>
            <a:ext cx="3657600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80" b="0">
                <a:solidFill>
                  <a:srgbClr val="A6B6CA">
                    <a:alpha val="84000"/>
                  </a:srgbClr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777240" cy="171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80" b="0">
                <a:solidFill>
                  <a:srgbClr val="A6B6CA">
                    <a:alpha val="84000"/>
                  </a:srgbClr>
                </a:solidFill>
                <a:latin typeface="Inter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1069</Words>
  <Application>Microsoft Office PowerPoint</Application>
  <PresentationFormat>Widescreen</PresentationFormat>
  <Paragraphs>236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David Baker</cp:lastModifiedBy>
  <cp:revision>1</cp:revision>
  <dcterms:created xsi:type="dcterms:W3CDTF">2013-01-27T09:14:16Z</dcterms:created>
  <dcterms:modified xsi:type="dcterms:W3CDTF">2026-05-19T11:04:53Z</dcterms:modified>
  <cp:category/>
</cp:coreProperties>
</file>