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84048" y="5148072"/>
            <a:ext cx="249631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" y="5257800"/>
            <a:ext cx="36850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5367528"/>
            <a:ext cx="52303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0859" y="5193792"/>
            <a:ext cx="65379" cy="65379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ANGEL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ANGEL / PRE-SEED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AI digital workers for client work.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turns meetings, source material, approvals, and follow-up into an operating system for expert firms.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232" y="3703320"/>
            <a:ext cx="1572768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$100k-$300k raise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87168" y="3703320"/>
            <a:ext cx="201168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Teams/M365 beachhead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36592" y="3703320"/>
            <a:ext cx="16459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F7FBFF"/>
                </a:solidFill>
                <a:latin typeface="Inter"/>
              </a:defRPr>
            </a:pPr>
            <a:r>
              <a:t>RamAir proof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69480" y="1115568"/>
            <a:ext cx="3337560" cy="318211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Nat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115568"/>
            <a:ext cx="3337560" cy="184562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470648" y="3088477"/>
            <a:ext cx="293522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t>LEAD ORCHESTRATOR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0648" y="3406688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Nathan Ellis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88936" y="3852184"/>
            <a:ext cx="28986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t>Coordinates strategy, agent routing, approval gates, and final delivery.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52360" y="5166360"/>
            <a:ext cx="3017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7FBFF"/>
                </a:solidFill>
                <a:latin typeface="Inter"/>
              </a:defRPr>
            </a:pPr>
            <a:r>
              <a:t>VU is your brand. Parlay your VU.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241280" y="393192"/>
            <a:ext cx="34564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1280" y="502920"/>
            <a:ext cx="510235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41280" y="612647"/>
            <a:ext cx="724204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98403" y="484632"/>
            <a:ext cx="90525" cy="90525"/>
          </a:xfrm>
          <a:prstGeom prst="ellipse">
            <a:avLst/>
          </a:prstGeom>
          <a:solidFill>
            <a:srgbClr val="9D7BFF"/>
          </a:solidFill>
          <a:ln w="952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Client work leaks margin after every call.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Generic AI drafts assets. Expert firms still need the whole workflow coordinated.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01768" y="2514600"/>
            <a:ext cx="21122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01768" y="2624328"/>
            <a:ext cx="311810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01768" y="2734056"/>
            <a:ext cx="442569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64454" y="2542032"/>
            <a:ext cx="55321" cy="55321"/>
          </a:xfrm>
          <a:prstGeom prst="ellipse">
            <a:avLst/>
          </a:prstGeom>
          <a:solidFill>
            <a:srgbClr val="9D7BFF"/>
          </a:solidFill>
          <a:ln w="9525">
            <a:solidFill>
              <a:srgbClr val="9D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074920" y="2871216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5111496" y="2907792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221224" y="2852928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Meetings</a:t>
            </a:r>
          </a:p>
        </p:txBody>
      </p:sp>
      <p:sp>
        <p:nvSpPr>
          <p:cNvPr id="60" name="Oval 59"/>
          <p:cNvSpPr/>
          <p:nvPr/>
        </p:nvSpPr>
        <p:spPr>
          <a:xfrm>
            <a:off x="5074920" y="3218688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111496" y="3255264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221224" y="3200400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Memory</a:t>
            </a:r>
          </a:p>
        </p:txBody>
      </p:sp>
      <p:sp>
        <p:nvSpPr>
          <p:cNvPr id="63" name="Oval 62"/>
          <p:cNvSpPr/>
          <p:nvPr/>
        </p:nvSpPr>
        <p:spPr>
          <a:xfrm>
            <a:off x="5074920" y="3566160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5111496" y="3602736"/>
            <a:ext cx="0" cy="347472"/>
          </a:xfrm>
          <a:prstGeom prst="line">
            <a:avLst/>
          </a:prstGeom>
          <a:ln w="1143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221224" y="3547872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66" name="Oval 65"/>
          <p:cNvSpPr/>
          <p:nvPr/>
        </p:nvSpPr>
        <p:spPr>
          <a:xfrm>
            <a:off x="5074920" y="3913632"/>
            <a:ext cx="73152" cy="731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21224" y="3895344"/>
            <a:ext cx="10058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20" b="1">
                <a:solidFill>
                  <a:srgbClr val="C7D5E8"/>
                </a:solidFill>
                <a:latin typeface="Inter"/>
              </a:defRPr>
            </a:pPr>
            <a:r>
              <a:t>Outputs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56632" y="4059936"/>
            <a:ext cx="12344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20" b="1">
                <a:solidFill>
                  <a:srgbClr val="9D7BFF"/>
                </a:solidFill>
                <a:latin typeface="Inter"/>
              </a:defRPr>
            </a:pPr>
            <a:r>
              <a:t>CLIENT CALL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144768" y="2907792"/>
            <a:ext cx="301752" cy="0"/>
          </a:xfrm>
          <a:prstGeom prst="line">
            <a:avLst/>
          </a:prstGeom>
          <a:ln w="12700">
            <a:solidFill>
              <a:srgbClr val="9D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139830" y="2866644"/>
            <a:ext cx="82296" cy="82296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369161" y="2866644"/>
            <a:ext cx="82296" cy="82296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14400" y="182880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5568" y="199339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NOTES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5568" y="226771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transcripts, recaps</a:t>
            </a:r>
          </a:p>
        </p:txBody>
      </p:sp>
      <p:cxnSp>
        <p:nvCxnSpPr>
          <p:cNvPr id="75" name="Connector 74"/>
          <p:cNvCxnSpPr/>
          <p:nvPr/>
        </p:nvCxnSpPr>
        <p:spPr>
          <a:xfrm flipH="1" flipV="1">
            <a:off x="1920240" y="2249424"/>
            <a:ext cx="3886200" cy="996696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5298948" y="308536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345435" y="232787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188720" y="431596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89888" y="448055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TASKS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89888" y="4754879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owners, deadlines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2194560" y="3246120"/>
            <a:ext cx="3611880" cy="1490472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5331866" y="338382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586837" y="4516587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383280" y="1170432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84448" y="1335024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FILES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84448" y="1609344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source material</a:t>
            </a:r>
          </a:p>
        </p:txBody>
      </p:sp>
      <p:cxnSp>
        <p:nvCxnSpPr>
          <p:cNvPr id="87" name="Connector 86"/>
          <p:cNvCxnSpPr/>
          <p:nvPr/>
        </p:nvCxnSpPr>
        <p:spPr>
          <a:xfrm flipH="1" flipV="1">
            <a:off x="4389120" y="1591056"/>
            <a:ext cx="1417320" cy="165506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5595213" y="3006364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18050" y="1748515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3703320" y="49834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04487" y="51480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04487" y="54223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claims, sends, deploys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4709160" y="3246120"/>
            <a:ext cx="1097280" cy="215798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5633618" y="3463930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799685" y="5103997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498079" y="4754880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99248" y="4919472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REPORTING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99248" y="5193792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dashboards, updates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5806440" y="3246120"/>
            <a:ext cx="2697479" cy="1929384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6088989" y="3436498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139074" y="490282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144000" y="285292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45168" y="3017520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45168" y="329184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posts, pages, emails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806440" y="3246120"/>
            <a:ext cx="4343400" cy="27432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6286500" y="3208263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587484" y="3229112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882127" y="1298448"/>
            <a:ext cx="2011680" cy="82296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83296" y="1463039"/>
            <a:ext cx="16093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FOLLOW-UP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83296" y="1737360"/>
            <a:ext cx="16093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F7FBFF"/>
                </a:solidFill>
                <a:latin typeface="Inter"/>
              </a:defRPr>
            </a:pPr>
            <a:r>
              <a:t>client-ready next steps</a:t>
            </a:r>
          </a:p>
        </p:txBody>
      </p:sp>
      <p:cxnSp>
        <p:nvCxnSpPr>
          <p:cNvPr id="111" name="Connector 110"/>
          <p:cNvCxnSpPr/>
          <p:nvPr/>
        </p:nvCxnSpPr>
        <p:spPr>
          <a:xfrm flipV="1">
            <a:off x="5806440" y="1719072"/>
            <a:ext cx="3081527" cy="1527048"/>
          </a:xfrm>
          <a:prstGeom prst="line">
            <a:avLst/>
          </a:prstGeom>
          <a:ln w="11430">
            <a:solidFill>
              <a:srgbClr val="69A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6135075" y="3021726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477036" y="1861169"/>
            <a:ext cx="82296" cy="82296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43000" y="589788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F7FBFF"/>
                </a:solidFill>
                <a:latin typeface="Inter"/>
              </a:defRPr>
            </a:pPr>
            <a:r>
              <a:t>The buyer pain is not one prompt. It is memory, routing, governance, and repeatable delivery.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Nathan runs the client workflow from Teams.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A front-door orchestrator routes work to specialist agents, grounds it in project memory, and keeps approvals visible.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2221992"/>
            <a:ext cx="28803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2331720"/>
            <a:ext cx="425196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2441448"/>
            <a:ext cx="603504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33856" y="2286000"/>
            <a:ext cx="75438" cy="75438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49808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14400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6736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Brief Intake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16736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audience, source, constraints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364991" y="3529584"/>
            <a:ext cx="164593" cy="0"/>
          </a:xfrm>
          <a:prstGeom prst="line">
            <a:avLst/>
          </a:prstGeom>
          <a:ln w="1714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3343595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68684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529584" y="2816352"/>
            <a:ext cx="2542032" cy="142646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694176" y="2944368"/>
            <a:ext cx="274320" cy="274320"/>
          </a:xfrm>
          <a:prstGeom prst="roundRect">
            <a:avLst/>
          </a:prstGeom>
          <a:solidFill>
            <a:srgbClr val="02101C"/>
          </a:solidFill>
          <a:ln w="10795">
            <a:solidFill>
              <a:srgbClr val="02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02101C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6511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2101C"/>
                </a:solidFill>
                <a:latin typeface="Inter"/>
              </a:defRPr>
            </a:pPr>
            <a:r>
              <a:t>Agent Routing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96511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02101C"/>
                </a:solidFill>
                <a:latin typeface="Inter"/>
              </a:defRPr>
            </a:pPr>
            <a:r>
              <a:t>right specialist, visible handoff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3529584"/>
            <a:ext cx="164592" cy="0"/>
          </a:xfrm>
          <a:prstGeom prst="line">
            <a:avLst/>
          </a:prstGeom>
          <a:ln w="17145">
            <a:solidFill>
              <a:srgbClr val="0210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123371" y="3488436"/>
            <a:ext cx="82296" cy="82296"/>
          </a:xfrm>
          <a:prstGeom prst="ellipse">
            <a:avLst/>
          </a:prstGeom>
          <a:solidFill>
            <a:srgbClr val="02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48460" y="3488436"/>
            <a:ext cx="82296" cy="82296"/>
          </a:xfrm>
          <a:prstGeom prst="ellipse">
            <a:avLst/>
          </a:prstGeom>
          <a:solidFill>
            <a:srgbClr val="02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309360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73952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76288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Asset Factory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76288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notes, sites, emails, dashboards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924544" y="3529584"/>
            <a:ext cx="164592" cy="0"/>
          </a:xfrm>
          <a:prstGeom prst="line">
            <a:avLst/>
          </a:prstGeom>
          <a:ln w="1714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8903147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028236" y="3488436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089136" y="2816352"/>
            <a:ext cx="2542032" cy="142646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253728" y="2944368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56064" y="303580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Launch Loop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56064" y="3611880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10" b="0">
                <a:solidFill>
                  <a:srgbClr val="C7D5E8"/>
                </a:solidFill>
                <a:latin typeface="Inter"/>
              </a:defRPr>
            </a:pPr>
            <a:r>
              <a:t>approve, deploy, refine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280160" y="5010912"/>
            <a:ext cx="9601200" cy="603504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00200" y="5202936"/>
            <a:ext cx="8961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80" b="1">
                <a:solidFill>
                  <a:srgbClr val="F7FBFF"/>
                </a:solidFill>
                <a:latin typeface="Inter"/>
              </a:defRPr>
            </a:pPr>
            <a:r>
              <a:t>Human approval gates govern client-facing sends, publishing, deployments, claims, and commitments.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PRODUCT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A Microsoft-native client-work OS.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Teams and Microsoft 365 are the launch surface customers already use, not the company’s ceiling.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234086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0432" y="252374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FRONT DOORS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250545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Teams messages | M365 Files | Word | email/task surfaces | web/demo UI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316382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70432" y="334670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ORCHESTRATION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0360" y="332841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Nathan | FastAPI/LangGraph | specialist agent registry | readiness checks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" y="398678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0432" y="416966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MEMORY + GOVERNANCE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360" y="415137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clients | projects | source assets | approval states | agent events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4809744"/>
            <a:ext cx="10149840" cy="68580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0432" y="4992624"/>
            <a:ext cx="18288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50" b="1">
                <a:solidFill>
                  <a:srgbClr val="48E0D0"/>
                </a:solidFill>
                <a:latin typeface="Inter"/>
              </a:defRPr>
            </a:pPr>
            <a:r>
              <a:t>OUTPUT SYSTEMS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80360" y="4974336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40" b="0">
                <a:solidFill>
                  <a:srgbClr val="F7FBFF"/>
                </a:solidFill>
                <a:latin typeface="Inter"/>
              </a:defRPr>
            </a:pPr>
            <a:r>
              <a:t>meeting notes | approval packets | campaign sites | dashboards | follow-up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5715000"/>
            <a:ext cx="5074920" cy="329184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02101C"/>
                </a:solidFill>
                <a:latin typeface="Inter"/>
              </a:defRPr>
            </a:pPr>
            <a:r>
              <a:t>Working proof: routing, memory scaffold, Files outputs, approvals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36208" y="5715000"/>
            <a:ext cx="4846320" cy="329184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19" b="1">
                <a:solidFill>
                  <a:srgbClr val="F7FBFF"/>
                </a:solidFill>
                <a:latin typeface="Inter"/>
              </a:defRPr>
            </a:pPr>
            <a:r>
              <a:t>Roadmap: native Teams audio/video media bridge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WHAT EXISTS NOW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The demo proves the operating loop.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Current proof is specific: workflow infrastructure, seeded pilot artifacts, and approval-aware outputs.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NATHAN ROUTING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Teams-style messages against project memory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26280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27448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M365 FILES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7448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meeting notes as .md and .docx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11312" y="2267712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2432304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APPROVALS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706624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endpoints and Teams-ready cards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6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 WORKSPACE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channel model, artifacts, dashboard starter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26280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27448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7448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provider-hosted Tavus path; native Teams A/V remains roadmap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11312" y="3438144"/>
            <a:ext cx="3429000" cy="93268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3602736"/>
            <a:ext cx="30266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READINESS CHECKS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3877056"/>
            <a:ext cx="3026664" cy="4206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40" b="0">
                <a:solidFill>
                  <a:srgbClr val="F7FBFF"/>
                </a:solidFill>
                <a:latin typeface="Inter"/>
              </a:defRPr>
            </a:pPr>
            <a:r>
              <a:t>LLM, memory, M365, Teams, avatar, approvals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" y="5715000"/>
            <a:ext cx="9966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40" b="0">
                <a:solidFill>
                  <a:srgbClr val="C7D5E8"/>
                </a:solidFill>
                <a:latin typeface="Inter"/>
              </a:defRPr>
            </a:pPr>
            <a:r>
              <a:t>Credibility boundary: do not imply mature SaaS traction or production native Teams media until pilots and media bridge validation prove it.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CASE STUDY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PARLAYVU IN THE FIELD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RamAir turns one weekly podcast into a content engine.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The first client story shows the repeatable pattern: source material becomes governed outputs across channels.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2176272"/>
            <a:ext cx="2834640" cy="324612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ramair-david-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76272"/>
            <a:ext cx="2834640" cy="188274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42416" y="4188866"/>
            <a:ext cx="2432304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40" b="1">
                <a:solidFill>
                  <a:srgbClr val="48E0D0"/>
                </a:solidFill>
                <a:latin typeface="Inter"/>
              </a:defRPr>
            </a:pPr>
            <a:r>
              <a:t>RAMAIR / RAMAIR.CO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" y="4513478"/>
            <a:ext cx="24323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7FBFF"/>
                </a:solidFill>
                <a:latin typeface="Inter"/>
              </a:defRPr>
            </a:pPr>
            <a:r>
              <a:t>Straight from the Hart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" y="4967935"/>
            <a:ext cx="23957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50" b="1">
                <a:solidFill>
                  <a:srgbClr val="C7D5E8"/>
                </a:solidFill>
                <a:latin typeface="Inter"/>
              </a:defRPr>
            </a:pPr>
            <a:r>
              <a:t>Podcast source material becomes a coordinated workspace and distribution cadence.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3675887" y="2523744"/>
            <a:ext cx="1380744" cy="996696"/>
          </a:xfrm>
          <a:prstGeom prst="line">
            <a:avLst/>
          </a:prstGeom>
          <a:ln w="1206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800429" y="3359688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849794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160520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61688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61688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YouTube + site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3675887" y="2523744"/>
            <a:ext cx="3547873" cy="996696"/>
          </a:xfrm>
          <a:prstGeom prst="line">
            <a:avLst/>
          </a:prstGeom>
          <a:ln w="1206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4060484" y="3359688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756867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327648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28816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28816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Short clips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3675887" y="2523744"/>
            <a:ext cx="5705857" cy="996696"/>
          </a:xfrm>
          <a:prstGeom prst="line">
            <a:avLst/>
          </a:prstGeom>
          <a:ln w="1206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4319442" y="3359688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55893" y="2602199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485632" y="2084831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0" y="22494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25237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Social posts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675887" y="3520440"/>
            <a:ext cx="1380744" cy="374904"/>
          </a:xfrm>
          <a:prstGeom prst="line">
            <a:avLst/>
          </a:prstGeom>
          <a:ln w="1206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3800429" y="3524280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849794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60520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61688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61688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Transcript insights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675887" y="3520440"/>
            <a:ext cx="3547873" cy="374904"/>
          </a:xfrm>
          <a:prstGeom prst="line">
            <a:avLst/>
          </a:prstGeom>
          <a:ln w="1206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060484" y="3524280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756867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327648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28816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28816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Case studies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675887" y="3520440"/>
            <a:ext cx="5705857" cy="374904"/>
          </a:xfrm>
          <a:prstGeom prst="line">
            <a:avLst/>
          </a:prstGeom>
          <a:ln w="1206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4319442" y="3524280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655893" y="3809207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485632" y="3456432"/>
            <a:ext cx="1783080" cy="877824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86800" y="3621024"/>
            <a:ext cx="138074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OUTPUT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3895344"/>
            <a:ext cx="1380744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F7FBFF"/>
                </a:solidFill>
                <a:latin typeface="Inter"/>
              </a:defRPr>
            </a:pPr>
            <a:r>
              <a:t>Sell sheets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51960" y="4956048"/>
            <a:ext cx="6126480" cy="65836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26280" y="5148072"/>
            <a:ext cx="5577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40" b="1">
                <a:solidFill>
                  <a:srgbClr val="C7D5E8"/>
                </a:solidFill>
                <a:latin typeface="Inter"/>
              </a:defRPr>
            </a:pPr>
            <a:r>
              <a:t>Use as pilot proof of a workflow pattern, not broad SaaS traction.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MARKET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MARKET +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Start where expertise becomes deliverables.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Founder-led pilots reveal the repeatable workspace subscription modules.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9848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IDEAL EARLY CUSTOMER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Boutique agencies, consultants, coaches, professional services firms, and expert-led businesses already using Microsoft 365.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98848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0016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INITIAL PROMISE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0016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Turn client meetings and source material into approved deliverables, updates, and follow-up inside the tools the firm already uses.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19872" y="2231136"/>
            <a:ext cx="3200400" cy="239572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2395728"/>
            <a:ext cx="2798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9D7BFF"/>
                </a:solidFill>
                <a:latin typeface="Inter"/>
              </a:defRPr>
            </a:pPr>
            <a:r>
              <a:t>REVENUE PATH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2670048"/>
            <a:ext cx="2798064" cy="1883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7FBFF"/>
                </a:solidFill>
                <a:latin typeface="Inter"/>
              </a:defRPr>
            </a:pPr>
            <a:r>
              <a:t>Pilot setup fee plus monthly subscription by clients/projects, agent seats, integrations, outputs, and premium workflow modules.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" y="5522976"/>
            <a:ext cx="10012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7FBFF"/>
                </a:solidFill>
                <a:latin typeface="Inter"/>
              </a:defRPr>
            </a:pPr>
            <a:r>
              <a:t>Ann Arbor/Michigan is the launch network and credibility base, not the market ceiling.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GTM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GO TO MARKET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Founder-led pilots create the first playbook.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Sell one concrete workflow, measure the outputs, then template the repeatable pieces.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99616" y="2359152"/>
            <a:ext cx="274320" cy="27432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2101C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INTRODUCTIONS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angels, operators, agencies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743200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2728386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895173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803904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62656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63824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RAMAIR-STYLE PILOT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63824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one workflow, visible outputs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047488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5032674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199461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108192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66944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68112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PROOF METRICS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68112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time saved, output cadence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351775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336962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503749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12480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71231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0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TEMPLATES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0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notes, packets, dashboards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656063" y="3273552"/>
            <a:ext cx="219456" cy="0"/>
          </a:xfrm>
          <a:prstGeom prst="line">
            <a:avLst/>
          </a:prstGeom>
          <a:ln w="13970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9641250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808037" y="3232404"/>
            <a:ext cx="82296" cy="82296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716767" y="2359152"/>
            <a:ext cx="274320" cy="27432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7FB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875519" y="2788920"/>
            <a:ext cx="2057400" cy="98755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76688" y="2953512"/>
            <a:ext cx="1655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REFERRALS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76688" y="3227832"/>
            <a:ext cx="1655064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0" b="0">
                <a:solidFill>
                  <a:srgbClr val="F7FBFF"/>
                </a:solidFill>
                <a:latin typeface="Inter"/>
              </a:defRPr>
            </a:pPr>
            <a:r>
              <a:t>adjacent firms, same pain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552" y="5440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7FBFF"/>
                </a:solidFill>
                <a:latin typeface="Inter"/>
              </a:defRPr>
            </a:pPr>
            <a:r>
              <a:t>3-5 pilots are enough to convert a services-assisted motion into a productized client-workspace package.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DIFFERENTIATION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Not another blank chat box.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ParlayVU combines memory, governance, and outputs in the Microsoft workflow where client work already happens.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2331720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5568" y="2496312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GENERIC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2770632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drafts content, but loses workflow context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3913632"/>
            <a:ext cx="4251960" cy="1078992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5568" y="4078224"/>
            <a:ext cx="3849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CONTENT 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" y="4352544"/>
            <a:ext cx="3849624" cy="566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7FBFF"/>
                </a:solidFill>
                <a:latin typeface="Inter"/>
              </a:defRPr>
            </a:pPr>
            <a:r>
              <a:t>help make assets, not client operations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46520" y="2331720"/>
            <a:ext cx="4526280" cy="265176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2651760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700" b="1">
                <a:solidFill>
                  <a:srgbClr val="02101C"/>
                </a:solidFill>
                <a:latin typeface="Inter"/>
              </a:defRPr>
            </a:pPr>
            <a:r>
              <a:t>PARLAYVU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84848" y="3035808"/>
            <a:ext cx="3749039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2101C"/>
                </a:solidFill>
                <a:latin typeface="Inter"/>
              </a:defRPr>
            </a:pPr>
            <a:r>
              <a:t>Coordinates client work across memory, agents, approvals, and outputs.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3136" y="431596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1">
                <a:solidFill>
                  <a:srgbClr val="02101C"/>
                </a:solidFill>
                <a:latin typeface="Inter"/>
              </a:defRPr>
            </a:pPr>
            <a:r>
              <a:t>Teams/M365 is the wedge. The durable value is governed agentic workflow.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779008" y="2148840"/>
            <a:ext cx="0" cy="3172968"/>
          </a:xfrm>
          <a:prstGeom prst="line">
            <a:avLst/>
          </a:prstGeom>
          <a:ln w="20320">
            <a:solidFill>
              <a:srgbClr val="B4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90 days to pilot-ready product.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Sequence core workflow hardening before making bigger native media claims.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234440" y="2907792"/>
            <a:ext cx="9326880" cy="0"/>
          </a:xfrm>
          <a:prstGeom prst="line">
            <a:avLst/>
          </a:prstGeom>
          <a:ln w="15875">
            <a:solidFill>
              <a:srgbClr val="48E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435607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86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98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30 DAYS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Polish RamAir workspace, notes, approvals, readiness, demo script</a:t>
            </a:r>
          </a:p>
        </p:txBody>
      </p:sp>
      <p:sp>
        <p:nvSpPr>
          <p:cNvPr id="54" name="Oval 53"/>
          <p:cNvSpPr/>
          <p:nvPr/>
        </p:nvSpPr>
        <p:spPr>
          <a:xfrm>
            <a:off x="4178808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6118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130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60 DAYS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130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Package onboarding templates and run 3-5 qualified pilot conversations</a:t>
            </a:r>
          </a:p>
        </p:txBody>
      </p:sp>
      <p:sp>
        <p:nvSpPr>
          <p:cNvPr id="58" name="Oval 57"/>
          <p:cNvSpPr/>
          <p:nvPr/>
        </p:nvSpPr>
        <p:spPr>
          <a:xfrm>
            <a:off x="6922008" y="2871216"/>
            <a:ext cx="91440" cy="91440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3550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62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48E0D0"/>
                </a:solidFill>
                <a:latin typeface="Inter"/>
              </a:defRPr>
            </a:pPr>
            <a:r>
              <a:t>90 DAYS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562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Paid pilots or LOIs, measurable outputs, pricing and module clarity</a:t>
            </a:r>
          </a:p>
        </p:txBody>
      </p:sp>
      <p:sp>
        <p:nvSpPr>
          <p:cNvPr id="62" name="Oval 61"/>
          <p:cNvSpPr/>
          <p:nvPr/>
        </p:nvSpPr>
        <p:spPr>
          <a:xfrm>
            <a:off x="9665207" y="2871216"/>
            <a:ext cx="91440" cy="91440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98280" y="2487168"/>
            <a:ext cx="2395728" cy="1207008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99448" y="2651760"/>
            <a:ext cx="199339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60" b="1">
                <a:solidFill>
                  <a:srgbClr val="69A7FF"/>
                </a:solidFill>
                <a:latin typeface="Inter"/>
              </a:defRPr>
            </a:pPr>
            <a:r>
              <a:t>LATER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99448" y="2926080"/>
            <a:ext cx="199339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90" b="0">
                <a:solidFill>
                  <a:srgbClr val="F7FBFF"/>
                </a:solidFill>
                <a:latin typeface="Inter"/>
              </a:defRPr>
            </a:pPr>
            <a:r>
              <a:t>Validate native Teams roster/media bridge after Graph and provider terms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1042415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1">
                <a:solidFill>
                  <a:srgbClr val="48E0D0"/>
                </a:solidFill>
                <a:latin typeface="Inter"/>
              </a:defRPr>
            </a:pPr>
            <a:r>
              <a:t>ASK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1353312"/>
            <a:ext cx="5852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100" b="1">
                <a:solidFill>
                  <a:srgbClr val="F7FBFF"/>
                </a:solidFill>
                <a:latin typeface="Inter"/>
              </a:defRPr>
            </a:pPr>
            <a:r>
              <a:t>Raising $100k-$300k to turn proof into revenue.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2852928"/>
            <a:ext cx="5120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70" b="0">
                <a:solidFill>
                  <a:srgbClr val="C7D5E8"/>
                </a:solidFill>
                <a:latin typeface="Inter"/>
              </a:defRPr>
            </a:pPr>
            <a:r>
              <a:t>Capital plus pilot/customer introductions are equally valuable at this stage.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" y="2176272"/>
            <a:ext cx="2606040" cy="1234440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2304288"/>
            <a:ext cx="22768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02101C"/>
                </a:solidFill>
                <a:latin typeface="Inter"/>
              </a:defRPr>
            </a:pPr>
            <a:r>
              <a:t>$100k–$300k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" y="2706624"/>
            <a:ext cx="2276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50" b="0">
                <a:solidFill>
                  <a:srgbClr val="02101C"/>
                </a:solidFill>
                <a:latin typeface="Inter"/>
              </a:defRPr>
            </a:pPr>
            <a:r>
              <a:t>Angel / pre-seed raise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04120" y="4736592"/>
            <a:ext cx="268833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04120" y="4846320"/>
            <a:ext cx="396849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104120" y="4956048"/>
            <a:ext cx="563270" cy="16459"/>
          </a:xfrm>
          <a:prstGeom prst="rect">
            <a:avLst/>
          </a:prstGeom>
          <a:solidFill>
            <a:srgbClr val="0C224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692993" y="4791455"/>
            <a:ext cx="70408" cy="70408"/>
          </a:xfrm>
          <a:prstGeom prst="ellipse">
            <a:avLst/>
          </a:prstGeom>
          <a:solidFill>
            <a:srgbClr val="48E0D0"/>
          </a:solidFill>
          <a:ln w="952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703320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Product hardening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7648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Pilot delivery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42832" y="2084831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M365 / Teams integration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03320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Avatar validation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27648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Design + pitch assets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42832" y="3703320"/>
            <a:ext cx="2139696" cy="457200"/>
          </a:xfrm>
          <a:prstGeom prst="roundRect">
            <a:avLst/>
          </a:prstGeom>
          <a:solidFill>
            <a:srgbClr val="0C2240"/>
          </a:solidFill>
          <a:ln w="10795">
            <a:solidFill>
              <a:srgbClr val="0C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 b="1">
                <a:solidFill>
                  <a:srgbClr val="F7FBFF"/>
                </a:solidFill>
                <a:latin typeface="Inter"/>
              </a:defRPr>
            </a:pPr>
            <a:r>
              <a:t>Founder-led GTM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" y="5321808"/>
            <a:ext cx="10058400" cy="566928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0" y="5504688"/>
            <a:ext cx="9491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70" b="1">
                <a:solidFill>
                  <a:srgbClr val="F7FBFF"/>
                </a:solidFill>
                <a:latin typeface="Inter"/>
              </a:defRPr>
            </a:pPr>
            <a:r>
              <a:t>Target: RamAir polished, 3-5 qualified pilots active, first paid pilots or signed LOIs within 90 days of funding.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9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0912"/>
              </a:gs>
              <a:gs pos="100000">
                <a:srgbClr val="07152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06837" y="-2727874"/>
            <a:ext cx="6827349" cy="6827349"/>
          </a:xfrm>
          <a:prstGeom prst="ellipse">
            <a:avLst/>
          </a:prstGeom>
          <a:solidFill>
            <a:srgbClr val="48E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27349" y="-3108868"/>
            <a:ext cx="7315017" cy="7315017"/>
          </a:xfrm>
          <a:prstGeom prst="ellipse">
            <a:avLst/>
          </a:prstGeom>
          <a:solidFill>
            <a:srgbClr val="69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50671" y="-1059076"/>
            <a:ext cx="8290352" cy="829035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3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6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0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33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67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33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7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4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673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7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341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67599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01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4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67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346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6680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2014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734800" y="0"/>
            <a:ext cx="0" cy="534924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533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066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133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667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7338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2672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334000"/>
            <a:ext cx="12191695" cy="0"/>
          </a:xfrm>
          <a:prstGeom prst="line">
            <a:avLst/>
          </a:prstGeom>
          <a:ln w="571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164592"/>
            <a:ext cx="10195560" cy="502920"/>
          </a:xfrm>
          <a:prstGeom prst="roundRect">
            <a:avLst/>
          </a:prstGeom>
          <a:solidFill>
            <a:srgbClr val="06111F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rlayvu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"/>
            <a:ext cx="1691640" cy="31950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28431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1663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5" y="347472"/>
            <a:ext cx="68580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70" b="1">
                <a:solidFill>
                  <a:srgbClr val="C7D5E8"/>
                </a:solidFill>
                <a:latin typeface="Inter"/>
              </a:defRPr>
            </a:pPr>
            <a:r>
              <a:t>PILOTS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" y="1234440"/>
            <a:ext cx="786384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000" b="1">
                <a:solidFill>
                  <a:srgbClr val="F7FBFF"/>
                </a:solidFill>
                <a:latin typeface="Inter"/>
              </a:defRPr>
            </a:pPr>
            <a:r>
              <a:t>VU is your brand.</a:t>
            </a:r>
            <a:br/>
            <a:r>
              <a:t>Parlay your VU.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2971800"/>
            <a:ext cx="5349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20" b="0">
                <a:solidFill>
                  <a:srgbClr val="C7D5E8"/>
                </a:solidFill>
                <a:latin typeface="Inter"/>
              </a:defRPr>
            </a:pPr>
            <a:r>
              <a:t>ParlayVU turns every client interaction into approved work, reusable memory, and distribution-ready output.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2011680"/>
            <a:ext cx="3566160" cy="2240280"/>
          </a:xfrm>
          <a:prstGeom prst="roundRect">
            <a:avLst/>
          </a:prstGeom>
          <a:solidFill>
            <a:srgbClr val="071528"/>
          </a:solidFill>
          <a:ln w="10795">
            <a:solidFill>
              <a:srgbClr val="B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88352" y="2423160"/>
            <a:ext cx="2852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7FBFF"/>
                </a:solidFill>
                <a:latin typeface="Inter"/>
              </a:defRPr>
            </a:pPr>
            <a:r>
              <a:t>Investor asks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063240"/>
            <a:ext cx="2560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20" b="0">
                <a:solidFill>
                  <a:srgbClr val="C7D5E8"/>
                </a:solidFill>
                <a:latin typeface="Inter"/>
              </a:defRPr>
            </a:pPr>
            <a:r>
              <a:t>Small checks</a:t>
            </a:r>
            <a:br/>
            <a:r>
              <a:t>Pilot introductions</a:t>
            </a:r>
            <a:br/>
            <a:r>
              <a:t>Microsoft 365 operator/customer intros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17536" y="4553712"/>
            <a:ext cx="2176272" cy="347472"/>
          </a:xfrm>
          <a:prstGeom prst="roundRect">
            <a:avLst/>
          </a:prstGeom>
          <a:solidFill>
            <a:srgbClr val="48E0D0"/>
          </a:solidFill>
          <a:ln w="10795">
            <a:solidFill>
              <a:srgbClr val="48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9" b="1">
                <a:solidFill>
                  <a:srgbClr val="02101C"/>
                </a:solidFill>
                <a:latin typeface="Inter"/>
              </a:defRPr>
            </a:pPr>
            <a:r>
              <a:t>Book a strategy call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446520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680" b="0">
                <a:solidFill>
                  <a:srgbClr val="9FB3CB"/>
                </a:solidFill>
                <a:latin typeface="Inter"/>
              </a:defRPr>
            </a:pPr>
            <a:r>
              <a:t>Agentic client-work operating system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0" y="6446520"/>
            <a:ext cx="7772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680" b="0">
                <a:solidFill>
                  <a:srgbClr val="9FB3CB"/>
                </a:solidFill>
                <a:latin typeface="Inter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