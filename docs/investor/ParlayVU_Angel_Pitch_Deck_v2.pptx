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6A47CC-C09E-4904-8A41-765F88E89581}" v="1" dt="2026-05-19T10:59:37.7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3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Baker" userId="488f122d-72cc-4670-ae96-4ea2a6611a9b" providerId="ADAL" clId="{7F09B3E0-E943-42C4-8942-72E4410BAC3B}"/>
    <pc:docChg chg="modSld">
      <pc:chgData name="David Baker" userId="488f122d-72cc-4670-ae96-4ea2a6611a9b" providerId="ADAL" clId="{7F09B3E0-E943-42C4-8942-72E4410BAC3B}" dt="2026-05-19T10:59:57.039" v="50" actId="6549"/>
      <pc:docMkLst>
        <pc:docMk/>
      </pc:docMkLst>
      <pc:sldChg chg="modSp mod">
        <pc:chgData name="David Baker" userId="488f122d-72cc-4670-ae96-4ea2a6611a9b" providerId="ADAL" clId="{7F09B3E0-E943-42C4-8942-72E4410BAC3B}" dt="2026-05-19T10:57:53.114" v="5" actId="1076"/>
        <pc:sldMkLst>
          <pc:docMk/>
          <pc:sldMk cId="0" sldId="257"/>
        </pc:sldMkLst>
        <pc:spChg chg="mod">
          <ac:chgData name="David Baker" userId="488f122d-72cc-4670-ae96-4ea2a6611a9b" providerId="ADAL" clId="{7F09B3E0-E943-42C4-8942-72E4410BAC3B}" dt="2026-05-19T10:57:32.451" v="2" actId="107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David Baker" userId="488f122d-72cc-4670-ae96-4ea2a6611a9b" providerId="ADAL" clId="{7F09B3E0-E943-42C4-8942-72E4410BAC3B}" dt="2026-05-19T10:57:35.031" v="3" actId="1076"/>
          <ac:spMkLst>
            <pc:docMk/>
            <pc:sldMk cId="0" sldId="257"/>
            <ac:spMk id="34" creationId="{00000000-0000-0000-0000-000000000000}"/>
          </ac:spMkLst>
        </pc:spChg>
        <pc:spChg chg="mod">
          <ac:chgData name="David Baker" userId="488f122d-72cc-4670-ae96-4ea2a6611a9b" providerId="ADAL" clId="{7F09B3E0-E943-42C4-8942-72E4410BAC3B}" dt="2026-05-19T10:57:53.114" v="5" actId="1076"/>
          <ac:spMkLst>
            <pc:docMk/>
            <pc:sldMk cId="0" sldId="257"/>
            <ac:spMk id="36" creationId="{00000000-0000-0000-0000-000000000000}"/>
          </ac:spMkLst>
        </pc:spChg>
        <pc:cxnChg chg="mod">
          <ac:chgData name="David Baker" userId="488f122d-72cc-4670-ae96-4ea2a6611a9b" providerId="ADAL" clId="{7F09B3E0-E943-42C4-8942-72E4410BAC3B}" dt="2026-05-19T10:57:31.583" v="1" actId="14100"/>
          <ac:cxnSpMkLst>
            <pc:docMk/>
            <pc:sldMk cId="0" sldId="257"/>
            <ac:cxnSpMk id="35" creationId="{00000000-0000-0000-0000-000000000000}"/>
          </ac:cxnSpMkLst>
        </pc:cxnChg>
      </pc:sldChg>
      <pc:sldChg chg="modSp mod">
        <pc:chgData name="David Baker" userId="488f122d-72cc-4670-ae96-4ea2a6611a9b" providerId="ADAL" clId="{7F09B3E0-E943-42C4-8942-72E4410BAC3B}" dt="2026-05-19T10:58:01.097" v="6" actId="20577"/>
        <pc:sldMkLst>
          <pc:docMk/>
          <pc:sldMk cId="0" sldId="258"/>
        </pc:sldMkLst>
        <pc:spChg chg="mod">
          <ac:chgData name="David Baker" userId="488f122d-72cc-4670-ae96-4ea2a6611a9b" providerId="ADAL" clId="{7F09B3E0-E943-42C4-8942-72E4410BAC3B}" dt="2026-05-19T10:58:01.097" v="6" actId="20577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David Baker" userId="488f122d-72cc-4670-ae96-4ea2a6611a9b" providerId="ADAL" clId="{7F09B3E0-E943-42C4-8942-72E4410BAC3B}" dt="2026-05-19T10:58:22.853" v="13" actId="20577"/>
        <pc:sldMkLst>
          <pc:docMk/>
          <pc:sldMk cId="0" sldId="259"/>
        </pc:sldMkLst>
        <pc:spChg chg="mod">
          <ac:chgData name="David Baker" userId="488f122d-72cc-4670-ae96-4ea2a6611a9b" providerId="ADAL" clId="{7F09B3E0-E943-42C4-8942-72E4410BAC3B}" dt="2026-05-19T10:58:22.853" v="13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David Baker" userId="488f122d-72cc-4670-ae96-4ea2a6611a9b" providerId="ADAL" clId="{7F09B3E0-E943-42C4-8942-72E4410BAC3B}" dt="2026-05-19T10:59:57.039" v="50" actId="6549"/>
        <pc:sldMkLst>
          <pc:docMk/>
          <pc:sldMk cId="0" sldId="260"/>
        </pc:sldMkLst>
        <pc:spChg chg="mod">
          <ac:chgData name="David Baker" userId="488f122d-72cc-4670-ae96-4ea2a6611a9b" providerId="ADAL" clId="{7F09B3E0-E943-42C4-8942-72E4410BAC3B}" dt="2026-05-19T10:59:57.039" v="50" actId="6549"/>
          <ac:spMkLst>
            <pc:docMk/>
            <pc:sldMk cId="0" sldId="260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-822960"/>
            <a:ext cx="4206240" cy="4206240"/>
          </a:xfrm>
          <a:prstGeom prst="ellipse">
            <a:avLst/>
          </a:prstGeom>
          <a:solidFill>
            <a:srgbClr val="2A4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406640" y="4114800"/>
            <a:ext cx="2560320" cy="2560320"/>
          </a:xfrm>
          <a:prstGeom prst="ellipse">
            <a:avLst/>
          </a:prstGeom>
          <a:solidFill>
            <a:srgbClr val="A95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tos Display"/>
              </a:rPr>
              <a:t>ParlayVU.ai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1">
                <a:solidFill>
                  <a:srgbClr val="D38F57"/>
                </a:solidFill>
                <a:latin typeface="Aptos"/>
              </a:rPr>
              <a:t>ANGEL / PRE-SEED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64922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500" b="1">
                <a:solidFill>
                  <a:srgbClr val="FFFFFF"/>
                </a:solidFill>
                <a:latin typeface="Aptos Display"/>
              </a:rPr>
              <a:t>AI digital workers for client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148840"/>
            <a:ext cx="5897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E2EBE5"/>
                </a:solidFill>
                <a:latin typeface="Aptos"/>
              </a:rPr>
              <a:t>ParlayVU turns meetings, source material, approvals, and follow-up into an operating system for expert firms.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154680"/>
            <a:ext cx="1874519" cy="347472"/>
          </a:xfrm>
          <a:prstGeom prst="roundRect">
            <a:avLst/>
          </a:prstGeom>
          <a:solidFill>
            <a:srgbClr val="A95E32"/>
          </a:solidFill>
          <a:ln w="10160">
            <a:solidFill>
              <a:srgbClr val="A95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 b="1">
                <a:solidFill>
                  <a:srgbClr val="FFFFFF"/>
                </a:solidFill>
                <a:latin typeface="Aptos"/>
              </a:defRPr>
            </a:pPr>
            <a:r>
              <a:t>$100k-$300k raise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4912" y="3154680"/>
            <a:ext cx="2606040" cy="347472"/>
          </a:xfrm>
          <a:prstGeom prst="roundRect">
            <a:avLst/>
          </a:prstGeom>
          <a:solidFill>
            <a:srgbClr val="2A4A42"/>
          </a:solidFill>
          <a:ln w="10160">
            <a:solidFill>
              <a:srgbClr val="2A4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 b="1">
                <a:solidFill>
                  <a:srgbClr val="FFFFFF"/>
                </a:solidFill>
                <a:latin typeface="Aptos"/>
              </a:defRPr>
            </a:pPr>
            <a:r>
              <a:t>Teams/M365 beachhead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68112" y="3154680"/>
            <a:ext cx="2057400" cy="347472"/>
          </a:xfrm>
          <a:prstGeom prst="roundRect">
            <a:avLst/>
          </a:prstGeom>
          <a:solidFill>
            <a:srgbClr val="7C9B8F"/>
          </a:solidFill>
          <a:ln w="10160">
            <a:solidFill>
              <a:srgbClr val="7C9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 b="1">
                <a:solidFill>
                  <a:srgbClr val="141F1C"/>
                </a:solidFill>
                <a:latin typeface="Aptos"/>
              </a:defRPr>
            </a:pPr>
            <a:r>
              <a:t>RamAir pilot proof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960120"/>
            <a:ext cx="960120" cy="960120"/>
          </a:xfrm>
          <a:prstGeom prst="ellipse">
            <a:avLst/>
          </a:prstGeom>
          <a:solidFill>
            <a:srgbClr val="2A4A42"/>
          </a:solidFill>
          <a:ln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2" name="Oval 11"/>
          <p:cNvSpPr/>
          <p:nvPr/>
        </p:nvSpPr>
        <p:spPr>
          <a:xfrm>
            <a:off x="9372600" y="1664208"/>
            <a:ext cx="960120" cy="960120"/>
          </a:xfrm>
          <a:prstGeom prst="ellipse">
            <a:avLst/>
          </a:prstGeom>
          <a:solidFill>
            <a:srgbClr val="F8F4EC"/>
          </a:solidFill>
          <a:ln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E352F"/>
                </a:solidFill>
                <a:latin typeface="Aptos"/>
              </a:defRPr>
            </a:pPr>
            <a:r>
              <a:t>Nathan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2788920"/>
            <a:ext cx="960120" cy="960120"/>
          </a:xfrm>
          <a:prstGeom prst="ellipse">
            <a:avLst/>
          </a:prstGeom>
          <a:solidFill>
            <a:srgbClr val="2A4A42"/>
          </a:solidFill>
          <a:ln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Agents</a:t>
            </a:r>
          </a:p>
        </p:txBody>
      </p:sp>
      <p:sp>
        <p:nvSpPr>
          <p:cNvPr id="14" name="Oval 13"/>
          <p:cNvSpPr/>
          <p:nvPr/>
        </p:nvSpPr>
        <p:spPr>
          <a:xfrm>
            <a:off x="9646920" y="3657600"/>
            <a:ext cx="960120" cy="960120"/>
          </a:xfrm>
          <a:prstGeom prst="ellipse">
            <a:avLst/>
          </a:prstGeom>
          <a:solidFill>
            <a:srgbClr val="2A4A42"/>
          </a:solidFill>
          <a:ln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Approvals</a:t>
            </a:r>
          </a:p>
        </p:txBody>
      </p:sp>
      <p:sp>
        <p:nvSpPr>
          <p:cNvPr id="15" name="Oval 14"/>
          <p:cNvSpPr/>
          <p:nvPr/>
        </p:nvSpPr>
        <p:spPr>
          <a:xfrm>
            <a:off x="7360920" y="4480560"/>
            <a:ext cx="960120" cy="960120"/>
          </a:xfrm>
          <a:prstGeom prst="ellipse">
            <a:avLst/>
          </a:prstGeom>
          <a:solidFill>
            <a:srgbClr val="2A4A42"/>
          </a:solidFill>
          <a:ln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Outputs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05088" y="1444752"/>
            <a:ext cx="640080" cy="530352"/>
          </a:xfrm>
          <a:prstGeom prst="line">
            <a:avLst/>
          </a:prstGeom>
          <a:ln w="17780">
            <a:solidFill>
              <a:srgbClr val="7C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549640" y="2615184"/>
            <a:ext cx="978408" cy="384048"/>
          </a:xfrm>
          <a:prstGeom prst="line">
            <a:avLst/>
          </a:prstGeom>
          <a:ln w="17780">
            <a:solidFill>
              <a:srgbClr val="7C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06840" y="3319272"/>
            <a:ext cx="685800" cy="521208"/>
          </a:xfrm>
          <a:prstGeom prst="line">
            <a:avLst/>
          </a:prstGeom>
          <a:ln w="17780">
            <a:solidFill>
              <a:srgbClr val="7C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229600" y="4370832"/>
            <a:ext cx="1325880" cy="338328"/>
          </a:xfrm>
          <a:prstGeom prst="line">
            <a:avLst/>
          </a:prstGeom>
          <a:ln w="17780">
            <a:solidFill>
              <a:srgbClr val="7C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635240" y="5623560"/>
            <a:ext cx="3429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VU is your brand. Parlay your VU.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37376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0">
                <a:solidFill>
                  <a:srgbClr val="E2EBE5"/>
                </a:solidFill>
                <a:latin typeface="Aptos"/>
              </a:rPr>
              <a:t>Agentic client-work operating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6768" y="6437376"/>
            <a:ext cx="777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E2EBE5"/>
                </a:solidFill>
                <a:latin typeface="Aptos"/>
              </a:rPr>
              <a:t>01/14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365760"/>
            <a:ext cx="2926080" cy="2926080"/>
          </a:xfrm>
          <a:prstGeom prst="ellipse">
            <a:avLst/>
          </a:prstGeom>
          <a:solidFill>
            <a:srgbClr val="E2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29800" y="39319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E352F"/>
                </a:solidFill>
                <a:latin typeface="Aptos Display"/>
              </a:rPr>
              <a:t>ParlayVU.ai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1">
                <a:solidFill>
                  <a:srgbClr val="A95E32"/>
                </a:solidFill>
                <a:latin typeface="Aptos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6583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1E352F"/>
                </a:solidFill>
                <a:latin typeface="Aptos Display"/>
              </a:rPr>
              <a:t>Expert firms lose margin in the handoffs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627632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4A5B56"/>
                </a:solidFill>
                <a:latin typeface="Aptos"/>
              </a:rPr>
              <a:t>The expensive work begins after the client call ends.</a:t>
            </a:r>
          </a:p>
        </p:txBody>
      </p:sp>
      <p:sp>
        <p:nvSpPr>
          <p:cNvPr id="7" name="Oval 6"/>
          <p:cNvSpPr/>
          <p:nvPr/>
        </p:nvSpPr>
        <p:spPr>
          <a:xfrm>
            <a:off x="5303520" y="2743200"/>
            <a:ext cx="1051560" cy="1051560"/>
          </a:xfrm>
          <a:prstGeom prst="ellipse">
            <a:avLst/>
          </a:prstGeom>
          <a:solidFill>
            <a:srgbClr val="1E352F"/>
          </a:solidFill>
          <a:ln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Client</a:t>
            </a:r>
            <a:br/>
            <a:r>
              <a:t>call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74519"/>
            <a:ext cx="205740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2020824"/>
            <a:ext cx="17282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304287"/>
            <a:ext cx="1728216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transcripts, recaps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1938528" y="2276856"/>
            <a:ext cx="3867912" cy="969264"/>
          </a:xfrm>
          <a:prstGeom prst="line">
            <a:avLst/>
          </a:prstGeom>
          <a:ln w="13970">
            <a:solidFill>
              <a:srgbClr val="7C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34440" y="4160520"/>
            <a:ext cx="205740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99032" y="4306824"/>
            <a:ext cx="17282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4590288"/>
            <a:ext cx="1728216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owners, deadlines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258568" y="3246120"/>
            <a:ext cx="3547872" cy="1316736"/>
          </a:xfrm>
          <a:prstGeom prst="line">
            <a:avLst/>
          </a:prstGeom>
          <a:ln w="13970">
            <a:solidFill>
              <a:srgbClr val="7C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57600" y="5074920"/>
            <a:ext cx="205740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22191" y="5221224"/>
            <a:ext cx="17282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APPROVALS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1" y="5504688"/>
            <a:ext cx="1728216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claims, sends, deploys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4681728" y="3246120"/>
            <a:ext cx="1124712" cy="2231136"/>
          </a:xfrm>
          <a:prstGeom prst="line">
            <a:avLst/>
          </a:prstGeom>
          <a:ln w="13970">
            <a:solidFill>
              <a:srgbClr val="7C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43800" y="4754880"/>
            <a:ext cx="205740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08392" y="4901184"/>
            <a:ext cx="17282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8392" y="5184648"/>
            <a:ext cx="1728216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dashboards, updates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06440" y="3246120"/>
            <a:ext cx="2761488" cy="1911096"/>
          </a:xfrm>
          <a:prstGeom prst="line">
            <a:avLst/>
          </a:prstGeom>
          <a:ln w="13970">
            <a:solidFill>
              <a:srgbClr val="7C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44000" y="2788920"/>
            <a:ext cx="205740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08592" y="2935224"/>
            <a:ext cx="17282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CONTENT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3218687"/>
            <a:ext cx="1728216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posts, pages, emails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5806440" y="3191256"/>
            <a:ext cx="4361688" cy="54864"/>
          </a:xfrm>
          <a:prstGeom prst="line">
            <a:avLst/>
          </a:prstGeom>
          <a:ln w="13970">
            <a:solidFill>
              <a:srgbClr val="7C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909560" y="1325880"/>
            <a:ext cx="205740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74152" y="1472184"/>
            <a:ext cx="17282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FOLLOW-UP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1755648"/>
            <a:ext cx="1728216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client-ready next steps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5806440" y="1728216"/>
            <a:ext cx="3127248" cy="1517904"/>
          </a:xfrm>
          <a:prstGeom prst="line">
            <a:avLst/>
          </a:prstGeom>
          <a:ln w="13970">
            <a:solidFill>
              <a:srgbClr val="7C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668012" y="1618488"/>
            <a:ext cx="205740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10712" y="1243584"/>
            <a:ext cx="17282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FILES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97196" y="1837944"/>
            <a:ext cx="1728216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 dirty="0">
                <a:solidFill>
                  <a:srgbClr val="141F1C"/>
                </a:solidFill>
                <a:latin typeface="Aptos"/>
              </a:rPr>
              <a:t>source material</a:t>
            </a:r>
          </a:p>
        </p:txBody>
      </p:sp>
      <p:cxnSp>
        <p:nvCxnSpPr>
          <p:cNvPr id="35" name="Connector 34"/>
          <p:cNvCxnSpPr>
            <a:cxnSpLocks/>
          </p:cNvCxnSpPr>
          <p:nvPr/>
        </p:nvCxnSpPr>
        <p:spPr>
          <a:xfrm flipH="1" flipV="1">
            <a:off x="5824728" y="2157984"/>
            <a:ext cx="50292" cy="1138427"/>
          </a:xfrm>
          <a:prstGeom prst="line">
            <a:avLst/>
          </a:prstGeom>
          <a:ln w="13970">
            <a:solidFill>
              <a:srgbClr val="7C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" y="6025896"/>
            <a:ext cx="9326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50" b="1" dirty="0">
                <a:solidFill>
                  <a:srgbClr val="1E352F"/>
                </a:solidFill>
                <a:latin typeface="Aptos"/>
              </a:rPr>
              <a:t>Generic AI drafts one asset. The margin leak is coordinating the whole client workflow.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437376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0">
                <a:solidFill>
                  <a:srgbClr val="4A5B56"/>
                </a:solidFill>
                <a:latin typeface="Aptos"/>
              </a:rPr>
              <a:t>Agentic client-work operating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16768" y="6437376"/>
            <a:ext cx="777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4A5B56"/>
                </a:solidFill>
                <a:latin typeface="Aptos"/>
              </a:rPr>
              <a:t>02/14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365760"/>
            <a:ext cx="2926080" cy="2926080"/>
          </a:xfrm>
          <a:prstGeom prst="ellipse">
            <a:avLst/>
          </a:prstGeom>
          <a:solidFill>
            <a:srgbClr val="E2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29800" y="39319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E352F"/>
                </a:solidFill>
                <a:latin typeface="Aptos Display"/>
              </a:rPr>
              <a:t>ParlayVU.ai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1">
                <a:solidFill>
                  <a:srgbClr val="A95E32"/>
                </a:solidFill>
                <a:latin typeface="Aptos"/>
              </a:rPr>
              <a:t>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658368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 dirty="0">
                <a:solidFill>
                  <a:srgbClr val="1E352F"/>
                </a:solidFill>
                <a:latin typeface="Aptos Display"/>
              </a:rPr>
              <a:t>Not Microsoft-dependent. </a:t>
            </a:r>
            <a:endParaRPr lang="en-US" sz="2700" b="1" dirty="0">
              <a:solidFill>
                <a:srgbClr val="1E352F"/>
              </a:solidFill>
              <a:latin typeface="Aptos Display"/>
            </a:endParaRPr>
          </a:p>
          <a:p>
            <a:r>
              <a:rPr sz="2700" b="1" dirty="0">
                <a:solidFill>
                  <a:srgbClr val="1E352F"/>
                </a:solidFill>
                <a:latin typeface="Aptos Display"/>
              </a:rPr>
              <a:t>Microsoft-native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627632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4A5B56"/>
                </a:solidFill>
                <a:latin typeface="Aptos"/>
              </a:rPr>
              <a:t>ParlayVU is an operating layer for client work; Teams and M365 are the launch surface customers already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3794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A95E32"/>
                </a:solidFill>
                <a:latin typeface="Aptos"/>
              </a:rPr>
              <a:t>Category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4206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100" b="1">
                <a:solidFill>
                  <a:srgbClr val="1E352F"/>
                </a:solidFill>
                <a:latin typeface="Aptos Display"/>
              </a:rPr>
              <a:t>AI digital workers need memory, workflow, and approval context before they can run real client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2331720"/>
            <a:ext cx="498348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62472" y="2478024"/>
            <a:ext cx="46542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BEACHHEAD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2472" y="2761487"/>
            <a:ext cx="4654296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Teams, SharePoint Files, Word, Planner direction, Power BI starters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3410711"/>
            <a:ext cx="498348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62472" y="3557015"/>
            <a:ext cx="46542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CORE 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2472" y="3840479"/>
            <a:ext cx="4654296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Nathan orchestration, project memory, specialist agents, approval gates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4489703"/>
            <a:ext cx="498348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62472" y="4636007"/>
            <a:ext cx="46542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4919471"/>
            <a:ext cx="4654296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Client portals, websites, email, analytics, publishing, partner channels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5577840"/>
            <a:ext cx="4983480" cy="384048"/>
          </a:xfrm>
          <a:prstGeom prst="roundRect">
            <a:avLst/>
          </a:prstGeom>
          <a:solidFill>
            <a:srgbClr val="1E352F"/>
          </a:solidFill>
          <a:ln w="10160">
            <a:solidFill>
              <a:srgbClr val="1E3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30" b="1">
                <a:solidFill>
                  <a:srgbClr val="FFFFFF"/>
                </a:solidFill>
                <a:latin typeface="Aptos"/>
              </a:defRPr>
            </a:pPr>
            <a:r>
              <a:t>Keep Microsoft as the wedge, not the whole company story.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37376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0">
                <a:solidFill>
                  <a:srgbClr val="4A5B56"/>
                </a:solidFill>
                <a:latin typeface="Aptos"/>
              </a:rPr>
              <a:t>Agentic client-work operating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16768" y="6437376"/>
            <a:ext cx="777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4A5B56"/>
                </a:solidFill>
                <a:latin typeface="Aptos"/>
              </a:rPr>
              <a:t>03/14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365760"/>
            <a:ext cx="2926080" cy="2926080"/>
          </a:xfrm>
          <a:prstGeom prst="ellipse">
            <a:avLst/>
          </a:prstGeom>
          <a:solidFill>
            <a:srgbClr val="E2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29800" y="39319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E352F"/>
                </a:solidFill>
                <a:latin typeface="Aptos Display"/>
              </a:rPr>
              <a:t>ParlayVU.ai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36576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850" b="1" dirty="0">
                <a:solidFill>
                  <a:srgbClr val="A95E32"/>
                </a:solidFill>
                <a:latin typeface="Aptos"/>
              </a:rPr>
              <a:t>PARLAYS</a:t>
            </a:r>
            <a:endParaRPr sz="850" b="1" dirty="0">
              <a:solidFill>
                <a:srgbClr val="A95E32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6583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1E352F"/>
                </a:solidFill>
                <a:latin typeface="Aptos Display"/>
              </a:rPr>
              <a:t>From raw interaction to approved client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627632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4A5B56"/>
                </a:solidFill>
                <a:latin typeface="Aptos"/>
              </a:rPr>
              <a:t>Shorter path from source material to governed outputs.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520" y="2743200"/>
            <a:ext cx="1993392" cy="804672"/>
          </a:xfrm>
          <a:prstGeom prst="rightArrow">
            <a:avLst/>
          </a:prstGeom>
          <a:solidFill>
            <a:srgbClr val="E2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E352F"/>
                </a:solidFill>
                <a:latin typeface="Aptos"/>
              </a:defRPr>
            </a:pPr>
            <a:r>
              <a:t>Brief</a:t>
            </a:r>
            <a:br/>
            <a:r>
              <a:t>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703320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4A5B56"/>
                </a:solidFill>
                <a:latin typeface="Aptos"/>
              </a:rPr>
              <a:t>audience, offer, constraints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80360" y="2743200"/>
            <a:ext cx="1993392" cy="804672"/>
          </a:xfrm>
          <a:prstGeom prst="rightArrow">
            <a:avLst/>
          </a:prstGeom>
          <a:solidFill>
            <a:srgbClr val="1E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Nathan</a:t>
            </a:r>
            <a:br/>
            <a:r>
              <a:t>Orchestrates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3703320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4A5B56"/>
                </a:solidFill>
                <a:latin typeface="Aptos"/>
              </a:rPr>
              <a:t>routes work, checks memory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029200" y="2743200"/>
            <a:ext cx="1993392" cy="804672"/>
          </a:xfrm>
          <a:prstGeom prst="rightArrow">
            <a:avLst/>
          </a:prstGeom>
          <a:solidFill>
            <a:srgbClr val="E2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E352F"/>
                </a:solidFill>
                <a:latin typeface="Aptos"/>
              </a:defRPr>
            </a:pPr>
            <a:r>
              <a:t>Specialist</a:t>
            </a:r>
            <a:br/>
            <a:r>
              <a:t>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2352" y="3703320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4A5B56"/>
                </a:solidFill>
                <a:latin typeface="Aptos"/>
              </a:rPr>
              <a:t>write, design, build, analyze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78040" y="2743200"/>
            <a:ext cx="1993392" cy="804672"/>
          </a:xfrm>
          <a:prstGeom prst="rightArrow">
            <a:avLst/>
          </a:prstGeom>
          <a:solidFill>
            <a:srgbClr val="E2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E352F"/>
                </a:solidFill>
                <a:latin typeface="Aptos"/>
              </a:defRPr>
            </a:pPr>
            <a:r>
              <a:t>Approval</a:t>
            </a:r>
            <a:br/>
            <a:r>
              <a:t>Gates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1192" y="3703320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4A5B56"/>
                </a:solidFill>
                <a:latin typeface="Aptos"/>
              </a:rPr>
              <a:t>human control on risk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26880" y="2743200"/>
            <a:ext cx="1993392" cy="804672"/>
          </a:xfrm>
          <a:prstGeom prst="rightArrow">
            <a:avLst/>
          </a:prstGeom>
          <a:solidFill>
            <a:srgbClr val="E2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E352F"/>
                </a:solidFill>
                <a:latin typeface="Aptos"/>
              </a:defRPr>
            </a:pPr>
            <a:r>
              <a:t>Client-Ready</a:t>
            </a:r>
            <a:br/>
            <a:r>
              <a:t>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3703320"/>
            <a:ext cx="1645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4A5B56"/>
                </a:solidFill>
                <a:latin typeface="Aptos"/>
              </a:rPr>
              <a:t>notes, assets, sites, reports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4736592"/>
            <a:ext cx="950976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08760" y="4928616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20" b="1">
                <a:solidFill>
                  <a:srgbClr val="1E352F"/>
                </a:solidFill>
                <a:latin typeface="Aptos"/>
              </a:rPr>
              <a:t>Project memory learns from source material, decisions, approvals, outputs, and results.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37376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0">
                <a:solidFill>
                  <a:srgbClr val="4A5B56"/>
                </a:solidFill>
                <a:latin typeface="Aptos"/>
              </a:rPr>
              <a:t>Agentic client-work operating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16768" y="6437376"/>
            <a:ext cx="777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4A5B56"/>
                </a:solidFill>
                <a:latin typeface="Aptos"/>
              </a:rPr>
              <a:t>04/14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365760"/>
            <a:ext cx="2926080" cy="2926080"/>
          </a:xfrm>
          <a:prstGeom prst="ellipse">
            <a:avLst/>
          </a:prstGeom>
          <a:solidFill>
            <a:srgbClr val="E2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29800" y="39319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E352F"/>
                </a:solidFill>
                <a:latin typeface="Aptos Display"/>
              </a:rPr>
              <a:t>ParlayVU.ai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1">
                <a:solidFill>
                  <a:srgbClr val="A95E32"/>
                </a:solidFill>
                <a:latin typeface="Aptos"/>
              </a:rPr>
              <a:t>PRODUCT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6583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1E352F"/>
                </a:solidFill>
                <a:latin typeface="Aptos Display"/>
              </a:rPr>
              <a:t>A client-work OS layered on existing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627632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4A5B56"/>
                </a:solidFill>
                <a:latin typeface="Aptos"/>
              </a:rPr>
              <a:t>Editable schematic, not a claim of every integration being production-complete today.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48840"/>
            <a:ext cx="10104120" cy="694944"/>
          </a:xfrm>
          <a:prstGeom prst="roundRect">
            <a:avLst/>
          </a:prstGeom>
          <a:solidFill>
            <a:srgbClr val="E2EBE5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0432" y="23134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1">
                <a:solidFill>
                  <a:srgbClr val="A95E32"/>
                </a:solidFill>
                <a:latin typeface="Aptos"/>
              </a:rPr>
              <a:t>FRONT DOORS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313432"/>
            <a:ext cx="7589520" cy="264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120" dirty="0">
                <a:solidFill>
                  <a:srgbClr val="141F1C"/>
                </a:solidFill>
                <a:latin typeface="Aptos"/>
              </a:rPr>
              <a:t>Teams calls, </a:t>
            </a:r>
            <a:r>
              <a:rPr sz="1120" b="0" dirty="0">
                <a:solidFill>
                  <a:srgbClr val="141F1C"/>
                </a:solidFill>
                <a:latin typeface="Aptos"/>
              </a:rPr>
              <a:t>messages • M365 Files • email/task surfaces • web/demo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99232"/>
            <a:ext cx="1010412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316382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1">
                <a:solidFill>
                  <a:srgbClr val="A95E32"/>
                </a:solidFill>
                <a:latin typeface="Aptos"/>
              </a:rPr>
              <a:t>ORCHESTRATION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163824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20" b="0">
                <a:solidFill>
                  <a:srgbClr val="141F1C"/>
                </a:solidFill>
                <a:latin typeface="Aptos"/>
              </a:rPr>
              <a:t>Nathan • FastAPI/LangGraph • specialist agent registry • readiness 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849624"/>
            <a:ext cx="10104120" cy="694944"/>
          </a:xfrm>
          <a:prstGeom prst="roundRect">
            <a:avLst/>
          </a:prstGeom>
          <a:solidFill>
            <a:srgbClr val="E2EBE5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2" y="4014215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1">
                <a:solidFill>
                  <a:srgbClr val="A95E32"/>
                </a:solidFill>
                <a:latin typeface="Aptos"/>
              </a:rPr>
              <a:t>MEMORY +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014215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20" b="0">
                <a:solidFill>
                  <a:srgbClr val="141F1C"/>
                </a:solidFill>
                <a:latin typeface="Aptos"/>
              </a:rPr>
              <a:t>clients • projects • source assets • approval states • agent events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700016"/>
            <a:ext cx="1010412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4864607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 b="1">
                <a:solidFill>
                  <a:srgbClr val="A95E32"/>
                </a:solidFill>
                <a:latin typeface="Aptos"/>
              </a:rPr>
              <a:t>OUTPUT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64607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20" b="0">
                <a:solidFill>
                  <a:srgbClr val="141F1C"/>
                </a:solidFill>
                <a:latin typeface="Aptos"/>
              </a:rPr>
              <a:t>meeting notes • approval packets • campaign sites • dashboard starters • follow-up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715000"/>
            <a:ext cx="4800600" cy="347472"/>
          </a:xfrm>
          <a:prstGeom prst="roundRect">
            <a:avLst/>
          </a:prstGeom>
          <a:solidFill>
            <a:srgbClr val="1E352F"/>
          </a:solidFill>
          <a:ln w="10160">
            <a:solidFill>
              <a:srgbClr val="1E3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Working proof: routing, memory scaffold, Files outputs, approvals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5715000"/>
            <a:ext cx="5029200" cy="347472"/>
          </a:xfrm>
          <a:prstGeom prst="roundRect">
            <a:avLst/>
          </a:prstGeom>
          <a:solidFill>
            <a:srgbClr val="EFEAE0"/>
          </a:solidFill>
          <a:ln w="10160"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E352F"/>
                </a:solidFill>
                <a:latin typeface="Aptos"/>
              </a:defRPr>
            </a:pPr>
            <a:r>
              <a:t>Roadmap: production native Teams audio/video media bridge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37376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0">
                <a:solidFill>
                  <a:srgbClr val="4A5B56"/>
                </a:solidFill>
                <a:latin typeface="Aptos"/>
              </a:rPr>
              <a:t>Agentic client-work operating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6768" y="6437376"/>
            <a:ext cx="777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4A5B56"/>
                </a:solidFill>
                <a:latin typeface="Aptos"/>
              </a:rPr>
              <a:t>05/14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365760"/>
            <a:ext cx="2926080" cy="2926080"/>
          </a:xfrm>
          <a:prstGeom prst="ellipse">
            <a:avLst/>
          </a:prstGeom>
          <a:solidFill>
            <a:srgbClr val="E2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29800" y="39319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E352F"/>
                </a:solidFill>
                <a:latin typeface="Aptos Display"/>
              </a:rPr>
              <a:t>ParlayVU.ai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1">
                <a:solidFill>
                  <a:srgbClr val="A95E32"/>
                </a:solidFill>
                <a:latin typeface="Aptos"/>
              </a:rPr>
              <a:t>PILOT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6583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1E352F"/>
                </a:solidFill>
                <a:latin typeface="Aptos Display"/>
              </a:rPr>
              <a:t>RamAir shows the repeatable content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627632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4A5B56"/>
                </a:solidFill>
                <a:latin typeface="Aptos"/>
              </a:rPr>
              <a:t>One weekly podcast becomes a coordinated client workspace and distribution cadence.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743200"/>
            <a:ext cx="1051560" cy="1051560"/>
          </a:xfrm>
          <a:prstGeom prst="ellipse">
            <a:avLst/>
          </a:prstGeom>
          <a:solidFill>
            <a:srgbClr val="1E352F"/>
          </a:solidFill>
          <a:ln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Podcast</a:t>
            </a:r>
            <a:br/>
            <a:r>
              <a:t>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600200"/>
            <a:ext cx="16002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07792" y="1746504"/>
            <a:ext cx="12710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2029967"/>
            <a:ext cx="1271016" cy="356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YouTube + site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874519" y="2029967"/>
            <a:ext cx="868681" cy="1243585"/>
          </a:xfrm>
          <a:prstGeom prst="line">
            <a:avLst/>
          </a:prstGeom>
          <a:ln w="12700">
            <a:solidFill>
              <a:srgbClr val="7C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09160" y="1600200"/>
            <a:ext cx="16002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73752" y="1746504"/>
            <a:ext cx="12710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2029967"/>
            <a:ext cx="1271016" cy="356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Short clips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874519" y="2029967"/>
            <a:ext cx="2834641" cy="1243585"/>
          </a:xfrm>
          <a:prstGeom prst="line">
            <a:avLst/>
          </a:prstGeom>
          <a:ln w="12700">
            <a:solidFill>
              <a:srgbClr val="7C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675120" y="1600200"/>
            <a:ext cx="16002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39712" y="1746504"/>
            <a:ext cx="12710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029967"/>
            <a:ext cx="1271016" cy="356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Social posts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874519" y="2029967"/>
            <a:ext cx="4800601" cy="1243585"/>
          </a:xfrm>
          <a:prstGeom prst="line">
            <a:avLst/>
          </a:prstGeom>
          <a:ln w="12700">
            <a:solidFill>
              <a:srgbClr val="7C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743200" y="3063240"/>
            <a:ext cx="16002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07792" y="3209544"/>
            <a:ext cx="12710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7792" y="3493008"/>
            <a:ext cx="1271016" cy="356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Transcript insights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874519" y="3273552"/>
            <a:ext cx="868681" cy="219456"/>
          </a:xfrm>
          <a:prstGeom prst="line">
            <a:avLst/>
          </a:prstGeom>
          <a:ln w="12700">
            <a:solidFill>
              <a:srgbClr val="7C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709160" y="3063240"/>
            <a:ext cx="16002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73752" y="3209544"/>
            <a:ext cx="12710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3752" y="3493008"/>
            <a:ext cx="1271016" cy="356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Case studies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74519" y="3273552"/>
            <a:ext cx="2834641" cy="219456"/>
          </a:xfrm>
          <a:prstGeom prst="line">
            <a:avLst/>
          </a:prstGeom>
          <a:ln w="12700">
            <a:solidFill>
              <a:srgbClr val="7C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675120" y="3063240"/>
            <a:ext cx="16002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39712" y="3209544"/>
            <a:ext cx="12710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3493008"/>
            <a:ext cx="1271016" cy="356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Sell sheets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874519" y="3273552"/>
            <a:ext cx="4800601" cy="219456"/>
          </a:xfrm>
          <a:prstGeom prst="line">
            <a:avLst/>
          </a:prstGeom>
          <a:ln w="12700">
            <a:solidFill>
              <a:srgbClr val="7C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915400" y="1481328"/>
            <a:ext cx="2148840" cy="3474720"/>
          </a:xfrm>
          <a:prstGeom prst="roundRect">
            <a:avLst/>
          </a:prstGeom>
          <a:solidFill>
            <a:srgbClr val="1E352F"/>
          </a:solidFill>
          <a:ln w="10160">
            <a:solidFill>
              <a:srgbClr val="1E3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62288" y="1783080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D38F57"/>
                </a:solidFill>
                <a:latin typeface="Aptos"/>
              </a:rPr>
              <a:t>CLIENT SIGNAL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176272"/>
            <a:ext cx="1691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“One show gives us a week’s worth of quality content across site and socials.”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4041648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30" b="0">
                <a:solidFill>
                  <a:srgbClr val="E2EBE5"/>
                </a:solidFill>
                <a:latin typeface="Aptos"/>
              </a:rPr>
              <a:t>Position as proof of workflow pattern, not broad SaaS traction.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37376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0">
                <a:solidFill>
                  <a:srgbClr val="4A5B56"/>
                </a:solidFill>
                <a:latin typeface="Aptos"/>
              </a:rPr>
              <a:t>Agentic client-work operating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16768" y="6437376"/>
            <a:ext cx="777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4A5B56"/>
                </a:solidFill>
                <a:latin typeface="Aptos"/>
              </a:rPr>
              <a:t>06/14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365760"/>
            <a:ext cx="2926080" cy="2926080"/>
          </a:xfrm>
          <a:prstGeom prst="ellipse">
            <a:avLst/>
          </a:prstGeom>
          <a:solidFill>
            <a:srgbClr val="E2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29800" y="39319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E352F"/>
                </a:solidFill>
                <a:latin typeface="Aptos Display"/>
              </a:rPr>
              <a:t>ParlayVU.ai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1">
                <a:solidFill>
                  <a:srgbClr val="A95E32"/>
                </a:solidFill>
                <a:latin typeface="Aptos"/>
              </a:rPr>
              <a:t>CREDIBLE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6583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1E352F"/>
                </a:solidFill>
                <a:latin typeface="Aptos Display"/>
              </a:rPr>
              <a:t>Be specific about what works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627632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4A5B56"/>
                </a:solidFill>
                <a:latin typeface="Aptos"/>
              </a:rPr>
              <a:t>Investor confidence improves when the roadmap is clearly separated from current proof.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1E352F"/>
                </a:solidFill>
                <a:latin typeface="Aptos Display"/>
              </a:rPr>
              <a:t>Working / demo-ready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697480"/>
            <a:ext cx="438912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1E352F"/>
                </a:solidFill>
                <a:latin typeface="Aptos"/>
              </a:defRPr>
            </a:pPr>
            <a:r>
              <a:t>Nathan routing and specialist agent registry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108960"/>
            <a:ext cx="438912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1E352F"/>
                </a:solidFill>
                <a:latin typeface="Aptos"/>
              </a:defRPr>
            </a:pPr>
            <a:r>
              <a:t>Project-memory scaffold for client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520440"/>
            <a:ext cx="438912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1E352F"/>
                </a:solidFill>
                <a:latin typeface="Aptos"/>
              </a:defRPr>
            </a:pPr>
            <a:r>
              <a:t>M365 Files meeting notes as .md and .docx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931920"/>
            <a:ext cx="438912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1E352F"/>
                </a:solidFill>
                <a:latin typeface="Aptos"/>
              </a:defRPr>
            </a:pPr>
            <a:r>
              <a:t>Approval endpoints and Teams-ready cards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343400"/>
            <a:ext cx="438912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1E352F"/>
                </a:solidFill>
                <a:latin typeface="Aptos"/>
              </a:defRPr>
            </a:pPr>
            <a:r>
              <a:t>RamAir workspace artifacts and dashboard starter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754880"/>
            <a:ext cx="438912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1E352F"/>
                </a:solidFill>
                <a:latin typeface="Aptos"/>
              </a:defRPr>
            </a:pPr>
            <a:r>
              <a:t>Provider-hosted Tavus/Nathan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1E352F"/>
                </a:solidFill>
                <a:latin typeface="Aptos Display"/>
              </a:rPr>
              <a:t>Roadmap / do not overclaim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697480"/>
            <a:ext cx="4526280" cy="292608"/>
          </a:xfrm>
          <a:prstGeom prst="roundRect">
            <a:avLst/>
          </a:prstGeom>
          <a:solidFill>
            <a:srgbClr val="EFEAE0"/>
          </a:solidFill>
          <a:ln w="10160"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141F1C"/>
                </a:solidFill>
                <a:latin typeface="Aptos"/>
              </a:defRPr>
            </a:pPr>
            <a:r>
              <a:t>Autonomous native Teams A/V participation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108960"/>
            <a:ext cx="4526280" cy="292608"/>
          </a:xfrm>
          <a:prstGeom prst="roundRect">
            <a:avLst/>
          </a:prstGeom>
          <a:solidFill>
            <a:srgbClr val="EFEAE0"/>
          </a:solidFill>
          <a:ln w="10160"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141F1C"/>
                </a:solidFill>
                <a:latin typeface="Aptos"/>
              </a:defRPr>
            </a:pPr>
            <a:r>
              <a:t>Graph media injection into live calls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520440"/>
            <a:ext cx="4526280" cy="292608"/>
          </a:xfrm>
          <a:prstGeom prst="roundRect">
            <a:avLst/>
          </a:prstGeom>
          <a:solidFill>
            <a:srgbClr val="EFEAE0"/>
          </a:solidFill>
          <a:ln w="10160"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141F1C"/>
                </a:solidFill>
                <a:latin typeface="Aptos"/>
              </a:defRPr>
            </a:pPr>
            <a:r>
              <a:t>Fully automated outbound sends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931920"/>
            <a:ext cx="4526280" cy="292608"/>
          </a:xfrm>
          <a:prstGeom prst="roundRect">
            <a:avLst/>
          </a:prstGeom>
          <a:solidFill>
            <a:srgbClr val="EFEAE0"/>
          </a:solidFill>
          <a:ln w="10160"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141F1C"/>
                </a:solidFill>
                <a:latin typeface="Aptos"/>
              </a:defRPr>
            </a:pPr>
            <a:r>
              <a:t>Mature SaaS traction before paid pilots or LOIs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343400"/>
            <a:ext cx="4526280" cy="292608"/>
          </a:xfrm>
          <a:prstGeom prst="roundRect">
            <a:avLst/>
          </a:prstGeom>
          <a:solidFill>
            <a:srgbClr val="EFEAE0"/>
          </a:solidFill>
          <a:ln w="10160"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141F1C"/>
                </a:solidFill>
                <a:latin typeface="Aptos"/>
              </a:defRPr>
            </a:pPr>
            <a:r>
              <a:t>Fully automated reporting refresh before wiring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0">
                <a:solidFill>
                  <a:srgbClr val="4A5B56"/>
                </a:solidFill>
                <a:latin typeface="Aptos"/>
              </a:rPr>
              <a:t>Agentic client-work operating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6768" y="6437376"/>
            <a:ext cx="777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4A5B56"/>
                </a:solidFill>
                <a:latin typeface="Aptos"/>
              </a:rPr>
              <a:t>07/14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365760"/>
            <a:ext cx="2926080" cy="2926080"/>
          </a:xfrm>
          <a:prstGeom prst="ellipse">
            <a:avLst/>
          </a:prstGeom>
          <a:solidFill>
            <a:srgbClr val="E2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29800" y="39319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E352F"/>
                </a:solidFill>
                <a:latin typeface="Aptos Display"/>
              </a:rPr>
              <a:t>ParlayVU.ai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1">
                <a:solidFill>
                  <a:srgbClr val="A95E32"/>
                </a:solidFill>
                <a:latin typeface="Aptos"/>
              </a:rPr>
              <a:t>MARKET WEDGE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6583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1E352F"/>
                </a:solidFill>
                <a:latin typeface="Aptos Display"/>
              </a:rPr>
              <a:t>Start where expertise becomes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627632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4A5B56"/>
                </a:solidFill>
                <a:latin typeface="Aptos"/>
              </a:rPr>
              <a:t>A narrow wedge with repeatable workflows and urgent margin pressure.</a:t>
            </a:r>
          </a:p>
        </p:txBody>
      </p:sp>
      <p:sp>
        <p:nvSpPr>
          <p:cNvPr id="7" name="Oval 6"/>
          <p:cNvSpPr/>
          <p:nvPr/>
        </p:nvSpPr>
        <p:spPr>
          <a:xfrm>
            <a:off x="5074920" y="2423160"/>
            <a:ext cx="2057400" cy="2057400"/>
          </a:xfrm>
          <a:prstGeom prst="ellipse">
            <a:avLst/>
          </a:prstGeom>
          <a:solidFill>
            <a:srgbClr val="1E352F"/>
          </a:solidFill>
          <a:ln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Ideal</a:t>
            </a:r>
            <a:br/>
            <a:r>
              <a:t>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011680"/>
            <a:ext cx="210312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1E352F"/>
                </a:solidFill>
                <a:latin typeface="Aptos"/>
              </a:defRPr>
            </a:pPr>
            <a:r>
              <a:t>Expert-led firms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325880"/>
            <a:ext cx="210312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1E352F"/>
                </a:solidFill>
                <a:latin typeface="Aptos"/>
              </a:defRPr>
            </a:pPr>
            <a:r>
              <a:t>M365 / Teams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210312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1E352F"/>
                </a:solidFill>
                <a:latin typeface="Aptos"/>
              </a:defRPr>
            </a:pPr>
            <a:r>
              <a:t>Repeatable meetings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2011680"/>
            <a:ext cx="210312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1E352F"/>
                </a:solidFill>
                <a:latin typeface="Aptos"/>
              </a:defRPr>
            </a:pPr>
            <a:r>
              <a:t>Content + reporting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4480560"/>
            <a:ext cx="210312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1E352F"/>
                </a:solidFill>
                <a:latin typeface="Aptos"/>
              </a:defRPr>
            </a:pPr>
            <a:r>
              <a:t>Approval-heavy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480560"/>
            <a:ext cx="210312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1E352F"/>
                </a:solidFill>
                <a:latin typeface="Aptos"/>
              </a:defRPr>
            </a:pPr>
            <a:r>
              <a:t>Founder-led sales 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577840"/>
            <a:ext cx="9829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1E352F"/>
                </a:solidFill>
                <a:latin typeface="Aptos"/>
              </a:rPr>
              <a:t>Michigan/Ann Arbor is the launch network and credibility base, not the market ceiling.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37376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0">
                <a:solidFill>
                  <a:srgbClr val="4A5B56"/>
                </a:solidFill>
                <a:latin typeface="Aptos"/>
              </a:rPr>
              <a:t>Agentic client-work operating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16768" y="6437376"/>
            <a:ext cx="777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4A5B56"/>
                </a:solidFill>
                <a:latin typeface="Aptos"/>
              </a:rPr>
              <a:t>08/14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365760"/>
            <a:ext cx="2926080" cy="2926080"/>
          </a:xfrm>
          <a:prstGeom prst="ellipse">
            <a:avLst/>
          </a:prstGeom>
          <a:solidFill>
            <a:srgbClr val="E2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29800" y="39319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E352F"/>
                </a:solidFill>
                <a:latin typeface="Aptos Display"/>
              </a:rPr>
              <a:t>ParlayVU.ai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1">
                <a:solidFill>
                  <a:srgbClr val="A95E32"/>
                </a:solidFill>
                <a:latin typeface="Aptos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6583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1E352F"/>
                </a:solidFill>
                <a:latin typeface="Aptos Display"/>
              </a:rPr>
              <a:t>High-touch pilots reveal subscription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627632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4A5B56"/>
                </a:solidFill>
                <a:latin typeface="Aptos"/>
              </a:rPr>
              <a:t>Early services help discover repeatable product packaging.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423160"/>
            <a:ext cx="297180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965960" y="1828800"/>
            <a:ext cx="685800" cy="685800"/>
          </a:xfrm>
          <a:prstGeom prst="ellipse">
            <a:avLst/>
          </a:prstGeom>
          <a:solidFill>
            <a:srgbClr val="1E352F"/>
          </a:solidFill>
          <a:ln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74320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E352F"/>
                </a:solidFill>
                <a:latin typeface="Aptos Display"/>
              </a:rPr>
              <a:t>Pilot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3364992"/>
            <a:ext cx="2194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4A5B56"/>
                </a:solidFill>
                <a:latin typeface="Aptos"/>
              </a:rPr>
              <a:t>configure workspace, memory, approvals, demo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423160"/>
            <a:ext cx="297180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394960" y="1828800"/>
            <a:ext cx="685800" cy="685800"/>
          </a:xfrm>
          <a:prstGeom prst="ellipse">
            <a:avLst/>
          </a:prstGeom>
          <a:solidFill>
            <a:srgbClr val="1E352F"/>
          </a:solidFill>
          <a:ln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74320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E352F"/>
                </a:solidFill>
                <a:latin typeface="Aptos Display"/>
              </a:rPr>
              <a:t>Monthly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3364992"/>
            <a:ext cx="2194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4A5B56"/>
                </a:solidFill>
                <a:latin typeface="Aptos"/>
              </a:rPr>
              <a:t>active clients/projects, agent seats, integrations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423160"/>
            <a:ext cx="297180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823960" y="1828800"/>
            <a:ext cx="685800" cy="685800"/>
          </a:xfrm>
          <a:prstGeom prst="ellipse">
            <a:avLst/>
          </a:prstGeom>
          <a:solidFill>
            <a:srgbClr val="1E352F"/>
          </a:solidFill>
          <a:ln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74320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E352F"/>
                </a:solidFill>
                <a:latin typeface="Aptos Display"/>
              </a:rPr>
              <a:t>Premium 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3364992"/>
            <a:ext cx="2194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4A5B56"/>
                </a:solidFill>
                <a:latin typeface="Aptos"/>
              </a:rPr>
              <a:t>publishing, dashboards, site generation, advanced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4068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30" b="1">
                <a:solidFill>
                  <a:srgbClr val="1E352F"/>
                </a:solidFill>
                <a:latin typeface="Aptos"/>
              </a:rPr>
              <a:t>The long-term product is a repeatable client-workspace package for agencies and expert firms.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0">
                <a:solidFill>
                  <a:srgbClr val="4A5B56"/>
                </a:solidFill>
                <a:latin typeface="Aptos"/>
              </a:rPr>
              <a:t>Agentic client-work operating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6768" y="6437376"/>
            <a:ext cx="777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4A5B56"/>
                </a:solidFill>
                <a:latin typeface="Aptos"/>
              </a:rPr>
              <a:t>09/14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365760"/>
            <a:ext cx="2926080" cy="2926080"/>
          </a:xfrm>
          <a:prstGeom prst="ellipse">
            <a:avLst/>
          </a:prstGeom>
          <a:solidFill>
            <a:srgbClr val="E2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29800" y="39319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E352F"/>
                </a:solidFill>
                <a:latin typeface="Aptos Display"/>
              </a:rPr>
              <a:t>ParlayVU.ai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1">
                <a:solidFill>
                  <a:srgbClr val="A95E32"/>
                </a:solidFill>
                <a:latin typeface="Aptos"/>
              </a:rPr>
              <a:t>GO TO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6583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1E352F"/>
                </a:solidFill>
                <a:latin typeface="Aptos Display"/>
              </a:rPr>
              <a:t>Founder-led pilots create the first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627632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4A5B56"/>
                </a:solidFill>
                <a:latin typeface="Aptos"/>
              </a:rPr>
              <a:t>Sell one concrete workflow before expanding the platform 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9202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752344"/>
            <a:ext cx="15910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INTRODUCTIONS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35808"/>
            <a:ext cx="1591056" cy="7863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angels, operators, agencies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1" y="2606040"/>
            <a:ext cx="19202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72384" y="2752344"/>
            <a:ext cx="15910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RAMAIR-STYLE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3035808"/>
            <a:ext cx="1591056" cy="7863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one workflow, visible outputs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2606040"/>
            <a:ext cx="19202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48655" y="2752344"/>
            <a:ext cx="15910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PROOF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655" y="3035808"/>
            <a:ext cx="1591056" cy="7863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time saved, output cadence, approvals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2606040"/>
            <a:ext cx="19202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24927" y="2752344"/>
            <a:ext cx="15910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TEMPLATES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7" y="3035808"/>
            <a:ext cx="1591056" cy="7863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onboarding, notes, packets, dashboards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6608" y="2606040"/>
            <a:ext cx="19202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0" y="2752344"/>
            <a:ext cx="15910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REFERRALS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035808"/>
            <a:ext cx="1591056" cy="7863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same buyer pain, adjacent firms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800600"/>
            <a:ext cx="9784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E352F"/>
                </a:solidFill>
                <a:latin typeface="Aptos Display"/>
              </a:rPr>
              <a:t>Pilot promise: turn client meetings and source material into approved deliverables and follow-up inside the tools the firm already uses.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37376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0">
                <a:solidFill>
                  <a:srgbClr val="4A5B56"/>
                </a:solidFill>
                <a:latin typeface="Aptos"/>
              </a:rPr>
              <a:t>Agentic client-work operating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16768" y="6437376"/>
            <a:ext cx="777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4A5B56"/>
                </a:solidFill>
                <a:latin typeface="Aptos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365760"/>
            <a:ext cx="2926080" cy="2926080"/>
          </a:xfrm>
          <a:prstGeom prst="ellipse">
            <a:avLst/>
          </a:prstGeom>
          <a:solidFill>
            <a:srgbClr val="E2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29800" y="39319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E352F"/>
                </a:solidFill>
                <a:latin typeface="Aptos Display"/>
              </a:rPr>
              <a:t>ParlayVU.ai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1">
                <a:solidFill>
                  <a:srgbClr val="A95E32"/>
                </a:solidFill>
                <a:latin typeface="Aptos"/>
              </a:rPr>
              <a:t>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6583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1E352F"/>
                </a:solidFill>
                <a:latin typeface="Aptos Display"/>
              </a:rPr>
              <a:t>Memory + governance + outputs in one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627632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4A5B56"/>
                </a:solidFill>
                <a:latin typeface="Aptos"/>
              </a:rPr>
              <a:t>ParlayVU is not trying to win as another blank chat box.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95E32"/>
                </a:solidFill>
                <a:latin typeface="Aptos"/>
              </a:rPr>
              <a:t>Point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148840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95E32"/>
                </a:solidFill>
                <a:latin typeface="Aptos"/>
              </a:rPr>
              <a:t>Operating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60320"/>
            <a:ext cx="42062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2706624"/>
            <a:ext cx="387705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GENERIC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990087"/>
            <a:ext cx="3877055" cy="539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drafts content, loses workflow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069080"/>
            <a:ext cx="42062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4215384"/>
            <a:ext cx="387705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CONTENT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498848"/>
            <a:ext cx="3877055" cy="539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help make assets, not client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2560320"/>
            <a:ext cx="4206240" cy="1051560"/>
          </a:xfrm>
          <a:prstGeom prst="roundRect">
            <a:avLst/>
          </a:prstGeom>
          <a:solidFill>
            <a:srgbClr val="1E352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93992" y="2706624"/>
            <a:ext cx="387705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D38F57"/>
                </a:solidFill>
                <a:latin typeface="Aptos"/>
              </a:rPr>
              <a:t>PARLAYVU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2990087"/>
            <a:ext cx="3877055" cy="539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FFFFFF"/>
                </a:solidFill>
                <a:latin typeface="Aptos"/>
              </a:rPr>
              <a:t>coordinates client work across memory, agents, approvals, and 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4069080"/>
            <a:ext cx="42062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93992" y="4215384"/>
            <a:ext cx="387705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AUTOMATION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3992" y="4498848"/>
            <a:ext cx="3877055" cy="539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connect systems, but still need agentic judgment and governance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97880" y="2377440"/>
            <a:ext cx="0" cy="2971800"/>
          </a:xfrm>
          <a:prstGeom prst="line">
            <a:avLst/>
          </a:prstGeom>
          <a:ln w="25400">
            <a:solidFill>
              <a:srgbClr val="7C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6437376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0">
                <a:solidFill>
                  <a:srgbClr val="4A5B56"/>
                </a:solidFill>
                <a:latin typeface="Aptos"/>
              </a:rPr>
              <a:t>Agentic client-work operating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16768" y="6437376"/>
            <a:ext cx="777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4A5B56"/>
                </a:solidFill>
                <a:latin typeface="Aptos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365760"/>
            <a:ext cx="2926080" cy="2926080"/>
          </a:xfrm>
          <a:prstGeom prst="ellipse">
            <a:avLst/>
          </a:prstGeom>
          <a:solidFill>
            <a:srgbClr val="E2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29800" y="39319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E352F"/>
                </a:solidFill>
                <a:latin typeface="Aptos Display"/>
              </a:rPr>
              <a:t>ParlayVU.ai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1">
                <a:solidFill>
                  <a:srgbClr val="A95E32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6583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1E352F"/>
                </a:solidFill>
                <a:latin typeface="Aptos Display"/>
              </a:rPr>
              <a:t>90 days to pilot-ready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627632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4A5B56"/>
                </a:solidFill>
                <a:latin typeface="Aptos"/>
              </a:rPr>
              <a:t>Keep the media-bot ambition credible by sequencing it after core workflow hardening.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2788920"/>
            <a:ext cx="804672" cy="804672"/>
          </a:xfrm>
          <a:prstGeom prst="ellipse">
            <a:avLst/>
          </a:prstGeom>
          <a:solidFill>
            <a:srgbClr val="1E352F"/>
          </a:solidFill>
          <a:ln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30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749039"/>
            <a:ext cx="233172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1" y="3895344"/>
            <a:ext cx="20025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MILESTONE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4178807"/>
            <a:ext cx="2002536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Polish RamAir workspace, meeting notes, approvals, readiness, demo script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0" y="2788920"/>
            <a:ext cx="804672" cy="804672"/>
          </a:xfrm>
          <a:prstGeom prst="ellipse">
            <a:avLst/>
          </a:prstGeom>
          <a:solidFill>
            <a:srgbClr val="1E352F"/>
          </a:solidFill>
          <a:ln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60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3749039"/>
            <a:ext cx="233172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76472" y="3895344"/>
            <a:ext cx="20025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MILESTONE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4178807"/>
            <a:ext cx="2002536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Package onboarding templates and run 3-5 qualified pilot conversations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0" y="2788920"/>
            <a:ext cx="804672" cy="804672"/>
          </a:xfrm>
          <a:prstGeom prst="ellipse">
            <a:avLst/>
          </a:prstGeom>
          <a:solidFill>
            <a:srgbClr val="1E352F"/>
          </a:solidFill>
          <a:ln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90 days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749039"/>
            <a:ext cx="233172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2" y="3895344"/>
            <a:ext cx="20025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MILESTONE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4178807"/>
            <a:ext cx="2002536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Paid pilots or LOIs, measurable outputs, pricing and module clarity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0" y="2788920"/>
            <a:ext cx="804672" cy="804672"/>
          </a:xfrm>
          <a:prstGeom prst="ellipse">
            <a:avLst/>
          </a:prstGeom>
          <a:solidFill>
            <a:srgbClr val="EFEAE0"/>
          </a:solidFill>
          <a:ln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E352F"/>
                </a:solidFill>
                <a:latin typeface="Aptos"/>
              </a:defRPr>
            </a:pPr>
            <a:r>
              <a:t>Later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3749039"/>
            <a:ext cx="233172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62872" y="3895344"/>
            <a:ext cx="20025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30" b="1">
                <a:solidFill>
                  <a:srgbClr val="A95E32"/>
                </a:solidFill>
                <a:latin typeface="Aptos"/>
              </a:rPr>
              <a:t>MILESTONE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4178807"/>
            <a:ext cx="2002536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30" b="0">
                <a:solidFill>
                  <a:srgbClr val="141F1C"/>
                </a:solidFill>
                <a:latin typeface="Aptos"/>
              </a:rPr>
              <a:t>Validate native Teams roster/media bridge after Graph and provider terms are proven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737360" y="3200400"/>
            <a:ext cx="8275320" cy="0"/>
          </a:xfrm>
          <a:prstGeom prst="line">
            <a:avLst/>
          </a:prstGeom>
          <a:ln w="27940">
            <a:solidFill>
              <a:srgbClr val="7C9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6437376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0">
                <a:solidFill>
                  <a:srgbClr val="4A5B56"/>
                </a:solidFill>
                <a:latin typeface="Aptos"/>
              </a:rPr>
              <a:t>Agentic client-work operating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16768" y="6437376"/>
            <a:ext cx="777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4A5B56"/>
                </a:solidFill>
                <a:latin typeface="Aptos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365760"/>
            <a:ext cx="2926080" cy="2926080"/>
          </a:xfrm>
          <a:prstGeom prst="ellipse">
            <a:avLst/>
          </a:prstGeom>
          <a:solidFill>
            <a:srgbClr val="E2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29800" y="39319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E352F"/>
                </a:solidFill>
                <a:latin typeface="Aptos Display"/>
              </a:rPr>
              <a:t>ParlayVU.ai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1">
                <a:solidFill>
                  <a:srgbClr val="A95E32"/>
                </a:solidFill>
                <a:latin typeface="Aptos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6583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1E352F"/>
                </a:solidFill>
                <a:latin typeface="Aptos Display"/>
              </a:rPr>
              <a:t>Raising $100k-$300k to turn proof into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627632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>
                <a:solidFill>
                  <a:srgbClr val="4A5B56"/>
                </a:solidFill>
                <a:latin typeface="Aptos"/>
              </a:rPr>
              <a:t>Capital plus pilot/customer introductions are equally valuable at this stage.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331720"/>
            <a:ext cx="2103120" cy="2103120"/>
          </a:xfrm>
          <a:prstGeom prst="ellipse">
            <a:avLst/>
          </a:prstGeom>
          <a:solidFill>
            <a:srgbClr val="1E352F"/>
          </a:solidFill>
          <a:ln>
            <a:solidFill>
              <a:srgbClr val="CE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$100k</a:t>
            </a:r>
            <a:br/>
            <a:r>
              <a:t>-</a:t>
            </a:r>
            <a:br/>
            <a:r>
              <a:t>$300k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057400"/>
            <a:ext cx="214884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52F"/>
                </a:solidFill>
                <a:latin typeface="Aptos"/>
              </a:defRPr>
            </a:pPr>
            <a:r>
              <a:t>Product hardening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2057400"/>
            <a:ext cx="214884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52F"/>
                </a:solidFill>
                <a:latin typeface="Aptos"/>
              </a:defRPr>
            </a:pPr>
            <a:r>
              <a:t>Pilot delivery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057400"/>
            <a:ext cx="214884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52F"/>
                </a:solidFill>
                <a:latin typeface="Aptos"/>
              </a:defRPr>
            </a:pPr>
            <a:r>
              <a:t>M365 / Teams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3840480"/>
            <a:ext cx="214884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52F"/>
                </a:solidFill>
                <a:latin typeface="Aptos"/>
              </a:defRPr>
            </a:pPr>
            <a:r>
              <a:t>Avatar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840480"/>
            <a:ext cx="214884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52F"/>
                </a:solidFill>
                <a:latin typeface="Aptos"/>
              </a:defRPr>
            </a:pPr>
            <a:r>
              <a:t>Pitch + design assets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3840480"/>
            <a:ext cx="214884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52F"/>
                </a:solidFill>
                <a:latin typeface="Aptos"/>
              </a:defRPr>
            </a:pPr>
            <a:r>
              <a:t>Founder-led GTM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440680"/>
            <a:ext cx="10012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E352F"/>
                </a:solidFill>
                <a:latin typeface="Aptos"/>
              </a:rPr>
              <a:t>Target milestone: RamAir polished, 3-5 qualified pilots active, first paid pilots or signed LOIs within 90 days of funding.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37376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0">
                <a:solidFill>
                  <a:srgbClr val="4A5B56"/>
                </a:solidFill>
                <a:latin typeface="Aptos"/>
              </a:rPr>
              <a:t>Agentic client-work operating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16768" y="6437376"/>
            <a:ext cx="777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4A5B56"/>
                </a:solidFill>
                <a:latin typeface="Aptos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-822960"/>
            <a:ext cx="4206240" cy="4206240"/>
          </a:xfrm>
          <a:prstGeom prst="ellipse">
            <a:avLst/>
          </a:prstGeom>
          <a:solidFill>
            <a:srgbClr val="2A4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406640" y="4114800"/>
            <a:ext cx="2560320" cy="2560320"/>
          </a:xfrm>
          <a:prstGeom prst="ellipse">
            <a:avLst/>
          </a:prstGeom>
          <a:solidFill>
            <a:srgbClr val="A95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tos Display"/>
              </a:rPr>
              <a:t>ParlayVU.ai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900" b="1">
                <a:solidFill>
                  <a:srgbClr val="FFFFFF"/>
                </a:solidFill>
                <a:latin typeface="Aptos Display"/>
              </a:rPr>
              <a:t>VU is your brand.</a:t>
            </a:r>
            <a:br/>
            <a:r>
              <a:t>Parlay your VU.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26080"/>
            <a:ext cx="5394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>
                <a:solidFill>
                  <a:srgbClr val="E2EBE5"/>
                </a:solidFill>
                <a:latin typeface="Aptos"/>
              </a:rPr>
              <a:t>ParlayVU turns every client interaction into approved work, reusable memory, and distribution-ready output.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828800"/>
            <a:ext cx="3474720" cy="2423160"/>
          </a:xfrm>
          <a:prstGeom prst="roundRect">
            <a:avLst/>
          </a:prstGeom>
          <a:solidFill>
            <a:srgbClr val="F8F4EC"/>
          </a:solidFill>
          <a:ln w="10160">
            <a:solidFill>
              <a:srgbClr val="F8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52360" y="2176272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E352F"/>
                </a:solidFill>
                <a:latin typeface="Aptos Display"/>
              </a:rPr>
              <a:t>Investor 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816352"/>
            <a:ext cx="2560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41F1C"/>
                </a:solidFill>
                <a:latin typeface="Aptos"/>
              </a:rPr>
              <a:t>Small checks</a:t>
            </a:r>
            <a:br/>
            <a:r>
              <a:t>Pilot introductions</a:t>
            </a:r>
            <a:br/>
            <a:r>
              <a:t>Microsoft 365 operator/customer intros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37376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50" b="0">
                <a:solidFill>
                  <a:srgbClr val="E2EBE5"/>
                </a:solidFill>
                <a:latin typeface="Aptos"/>
              </a:rPr>
              <a:t>Agentic client-work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6768" y="6437376"/>
            <a:ext cx="777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0">
                <a:solidFill>
                  <a:srgbClr val="E2EBE5"/>
                </a:solidFill>
                <a:latin typeface="Aptos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1138</Words>
  <Application>Microsoft Office PowerPoint</Application>
  <PresentationFormat>Widescreen</PresentationFormat>
  <Paragraphs>229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Baker</cp:lastModifiedBy>
  <cp:revision>1</cp:revision>
  <dcterms:created xsi:type="dcterms:W3CDTF">2013-01-27T09:14:16Z</dcterms:created>
  <dcterms:modified xsi:type="dcterms:W3CDTF">2026-05-19T11:00:07Z</dcterms:modified>
  <cp:category/>
</cp:coreProperties>
</file>