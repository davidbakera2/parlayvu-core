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486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5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7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268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755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4241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0700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64591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93775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58367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595360" y="-1234440"/>
            <a:ext cx="4023360" cy="40233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-1051560" y="4206240"/>
            <a:ext cx="2834640" cy="283464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ANGEL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ANGEL / PRE-SEED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AI digital workers for client work.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ParlayVU turns meetings, source material, approvals, and follow-up into an operating system for expert firms.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3232" y="3703320"/>
            <a:ext cx="1572768" cy="329184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9" b="1">
                <a:solidFill>
                  <a:srgbClr val="02101C"/>
                </a:solidFill>
                <a:latin typeface="Inter"/>
              </a:defRPr>
            </a:pPr>
            <a:r>
              <a:t>$100k-$300k raise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487168" y="3703320"/>
            <a:ext cx="2011680" cy="329184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9" b="1">
                <a:solidFill>
                  <a:srgbClr val="F7FBFF"/>
                </a:solidFill>
                <a:latin typeface="Inter"/>
              </a:defRPr>
            </a:pPr>
            <a:r>
              <a:t>Teams/M365 beachhead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736592" y="3703320"/>
            <a:ext cx="1645920" cy="329184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9" b="1">
                <a:solidFill>
                  <a:srgbClr val="F7FBFF"/>
                </a:solidFill>
                <a:latin typeface="Inter"/>
              </a:defRPr>
            </a:pPr>
            <a:r>
              <a:t>RamAir proof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269480" y="1115568"/>
            <a:ext cx="3337560" cy="318211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Nath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115568"/>
            <a:ext cx="3337560" cy="184562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470648" y="3088477"/>
            <a:ext cx="293522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40" b="1">
                <a:solidFill>
                  <a:srgbClr val="48E0D0"/>
                </a:solidFill>
                <a:latin typeface="Inter"/>
              </a:defRPr>
            </a:pPr>
            <a:r>
              <a:t>LEAD ORCHESTRATOR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70648" y="3406688"/>
            <a:ext cx="29352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F7FBFF"/>
                </a:solidFill>
                <a:latin typeface="Inter"/>
              </a:defRPr>
            </a:pPr>
            <a:r>
              <a:t>Nathan Ellis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88936" y="3852184"/>
            <a:ext cx="28986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50" b="1">
                <a:solidFill>
                  <a:srgbClr val="C7D5E8"/>
                </a:solidFill>
                <a:latin typeface="Inter"/>
              </a:defRPr>
            </a:pPr>
            <a:r>
              <a:t>Coordinates strategy, agent routing, approval gates, and final delivery.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52360" y="5166360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F7FBFF"/>
                </a:solidFill>
                <a:latin typeface="Inter"/>
              </a:defRPr>
            </a:pPr>
            <a:r>
              <a:t>VU is your brand. Parlay your VU.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486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5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7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268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755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4241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0700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64591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93775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58367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595360" y="-1234440"/>
            <a:ext cx="4023360" cy="4023360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-1051560" y="4206240"/>
            <a:ext cx="2834640" cy="283464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PROBLEM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PROBLEM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Client work leaks margin after every call.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Generic AI drafts assets. Expert firms still need the whole workflow coordinated.</a:t>
            </a:r>
          </a:p>
        </p:txBody>
      </p:sp>
      <p:sp>
        <p:nvSpPr>
          <p:cNvPr id="49" name="Oval 48"/>
          <p:cNvSpPr/>
          <p:nvPr/>
        </p:nvSpPr>
        <p:spPr>
          <a:xfrm>
            <a:off x="5486400" y="2697480"/>
            <a:ext cx="1051560" cy="1051560"/>
          </a:xfrm>
          <a:prstGeom prst="ellipse">
            <a:avLst/>
          </a:prstGeom>
          <a:solidFill>
            <a:srgbClr val="48E0D0"/>
          </a:solidFill>
          <a:ln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2101C"/>
                </a:solidFill>
                <a:latin typeface="Inter"/>
              </a:defRPr>
            </a:pPr>
            <a:r>
              <a:t>Client</a:t>
            </a:r>
            <a:br/>
            <a:r>
              <a:t>call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4400" y="1828800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15568" y="1993392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NOTES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" y="2267712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F7FBFF"/>
                </a:solidFill>
                <a:latin typeface="Inter"/>
              </a:defRPr>
            </a:pPr>
            <a:r>
              <a:t>transcripts, recaps</a:t>
            </a:r>
          </a:p>
        </p:txBody>
      </p:sp>
      <p:cxnSp>
        <p:nvCxnSpPr>
          <p:cNvPr id="53" name="Connector 52"/>
          <p:cNvCxnSpPr/>
          <p:nvPr/>
        </p:nvCxnSpPr>
        <p:spPr>
          <a:xfrm flipH="1" flipV="1">
            <a:off x="1920240" y="2249424"/>
            <a:ext cx="4096512" cy="996696"/>
          </a:xfrm>
          <a:prstGeom prst="line">
            <a:avLst/>
          </a:prstGeom>
          <a:ln w="1270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1188720" y="4315968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89888" y="4480559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TASKS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89888" y="4754879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F7FBFF"/>
                </a:solidFill>
                <a:latin typeface="Inter"/>
              </a:defRPr>
            </a:pPr>
            <a:r>
              <a:t>owners, deadlines</a:t>
            </a:r>
          </a:p>
        </p:txBody>
      </p:sp>
      <p:cxnSp>
        <p:nvCxnSpPr>
          <p:cNvPr id="57" name="Connector 56"/>
          <p:cNvCxnSpPr/>
          <p:nvPr/>
        </p:nvCxnSpPr>
        <p:spPr>
          <a:xfrm flipH="1">
            <a:off x="2194560" y="3246120"/>
            <a:ext cx="3822192" cy="1490472"/>
          </a:xfrm>
          <a:prstGeom prst="line">
            <a:avLst/>
          </a:prstGeom>
          <a:ln w="1270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3383280" y="1170432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84448" y="1335024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FILES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84448" y="1609344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F7FBFF"/>
                </a:solidFill>
                <a:latin typeface="Inter"/>
              </a:defRPr>
            </a:pPr>
            <a:r>
              <a:t>source material</a:t>
            </a:r>
          </a:p>
        </p:txBody>
      </p:sp>
      <p:cxnSp>
        <p:nvCxnSpPr>
          <p:cNvPr id="61" name="Connector 60"/>
          <p:cNvCxnSpPr/>
          <p:nvPr/>
        </p:nvCxnSpPr>
        <p:spPr>
          <a:xfrm flipH="1" flipV="1">
            <a:off x="4389120" y="1591056"/>
            <a:ext cx="1627632" cy="1655064"/>
          </a:xfrm>
          <a:prstGeom prst="line">
            <a:avLst/>
          </a:prstGeom>
          <a:ln w="1270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3703320" y="4983480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04487" y="5148072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APPROVALS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04487" y="5422392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F7FBFF"/>
                </a:solidFill>
                <a:latin typeface="Inter"/>
              </a:defRPr>
            </a:pPr>
            <a:r>
              <a:t>claims, sends, deploys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4709160" y="3246120"/>
            <a:ext cx="1307592" cy="2157984"/>
          </a:xfrm>
          <a:prstGeom prst="line">
            <a:avLst/>
          </a:prstGeom>
          <a:ln w="1270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7498079" y="4754880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99248" y="4919472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REPORTING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99248" y="5193792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F7FBFF"/>
                </a:solidFill>
                <a:latin typeface="Inter"/>
              </a:defRPr>
            </a:pPr>
            <a:r>
              <a:t>dashboards, updates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016752" y="3246120"/>
            <a:ext cx="2487167" cy="1929384"/>
          </a:xfrm>
          <a:prstGeom prst="line">
            <a:avLst/>
          </a:prstGeom>
          <a:ln w="1270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9144000" y="2852928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345168" y="3017520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CONTENT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45168" y="3291840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F7FBFF"/>
                </a:solidFill>
                <a:latin typeface="Inter"/>
              </a:defRPr>
            </a:pPr>
            <a:r>
              <a:t>posts, pages, emails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016752" y="3246120"/>
            <a:ext cx="4133088" cy="27432"/>
          </a:xfrm>
          <a:prstGeom prst="line">
            <a:avLst/>
          </a:prstGeom>
          <a:ln w="1270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7882127" y="1298448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83296" y="1463039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FOLLOW-UP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83296" y="1737360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F7FBFF"/>
                </a:solidFill>
                <a:latin typeface="Inter"/>
              </a:defRPr>
            </a:pPr>
            <a:r>
              <a:t>client-ready next steps</a:t>
            </a:r>
          </a:p>
        </p:txBody>
      </p:sp>
      <p:cxnSp>
        <p:nvCxnSpPr>
          <p:cNvPr id="77" name="Connector 76"/>
          <p:cNvCxnSpPr/>
          <p:nvPr/>
        </p:nvCxnSpPr>
        <p:spPr>
          <a:xfrm flipV="1">
            <a:off x="6016752" y="1719072"/>
            <a:ext cx="2871215" cy="1527048"/>
          </a:xfrm>
          <a:prstGeom prst="line">
            <a:avLst/>
          </a:prstGeom>
          <a:ln w="1270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143000" y="5897880"/>
            <a:ext cx="9601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50" b="1">
                <a:solidFill>
                  <a:srgbClr val="F7FBFF"/>
                </a:solidFill>
                <a:latin typeface="Inter"/>
              </a:defRPr>
            </a:pPr>
            <a:r>
              <a:t>The buyer pain is not one prompt. It is memory, routing, governance, and repeatable delivery.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486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5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7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268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755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4241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0700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64591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93775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58367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595360" y="-1234440"/>
            <a:ext cx="4023360" cy="40233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-1051560" y="4206240"/>
            <a:ext cx="2834640" cy="283464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SOLUTION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SOLUTION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Nathan runs the client workflow from Teams.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A front-door orchestrator routes work to specialist agents, grounds it in project memory, and keeps approvals visible.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49808" y="2816352"/>
            <a:ext cx="2542032" cy="1426464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9264" y="3035808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F7FBFF"/>
                </a:solidFill>
                <a:latin typeface="Inter"/>
              </a:defRPr>
            </a:pPr>
            <a:r>
              <a:t>Brief Intake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" y="3611880"/>
            <a:ext cx="2011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10" b="0">
                <a:solidFill>
                  <a:srgbClr val="C7D5E8"/>
                </a:solidFill>
                <a:latin typeface="Inter"/>
              </a:defRPr>
            </a:pPr>
            <a:r>
              <a:t>audience, source, constraints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346703" y="3529584"/>
            <a:ext cx="310897" cy="0"/>
          </a:xfrm>
          <a:prstGeom prst="line">
            <a:avLst/>
          </a:prstGeom>
          <a:ln w="25400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3529584" y="2816352"/>
            <a:ext cx="2542032" cy="1426464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9039" y="3035808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2101C"/>
                </a:solidFill>
                <a:latin typeface="Inter"/>
              </a:defRPr>
            </a:pPr>
            <a:r>
              <a:t>Agent Routing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49039" y="3611880"/>
            <a:ext cx="2011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10" b="0">
                <a:solidFill>
                  <a:srgbClr val="02101C"/>
                </a:solidFill>
                <a:latin typeface="Inter"/>
              </a:defRPr>
            </a:pPr>
            <a:r>
              <a:t>right specialist, visible handoff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126479" y="3529584"/>
            <a:ext cx="310897" cy="0"/>
          </a:xfrm>
          <a:prstGeom prst="line">
            <a:avLst/>
          </a:prstGeom>
          <a:ln w="25400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6309360" y="2816352"/>
            <a:ext cx="2542032" cy="1426464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28816" y="3035808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F7FBFF"/>
                </a:solidFill>
                <a:latin typeface="Inter"/>
              </a:defRPr>
            </a:pPr>
            <a:r>
              <a:t>Asset Factory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28816" y="3611880"/>
            <a:ext cx="2011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10" b="0">
                <a:solidFill>
                  <a:srgbClr val="C7D5E8"/>
                </a:solidFill>
                <a:latin typeface="Inter"/>
              </a:defRPr>
            </a:pPr>
            <a:r>
              <a:t>notes, sites, emails, dashboards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8906256" y="3529584"/>
            <a:ext cx="310896" cy="0"/>
          </a:xfrm>
          <a:prstGeom prst="line">
            <a:avLst/>
          </a:prstGeom>
          <a:ln w="25400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9089136" y="2816352"/>
            <a:ext cx="2542032" cy="1426464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08592" y="3035808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F7FBFF"/>
                </a:solidFill>
                <a:latin typeface="Inter"/>
              </a:defRPr>
            </a:pPr>
            <a:r>
              <a:t>Launch Loop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08592" y="3611880"/>
            <a:ext cx="2011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10" b="0">
                <a:solidFill>
                  <a:srgbClr val="C7D5E8"/>
                </a:solidFill>
                <a:latin typeface="Inter"/>
              </a:defRPr>
            </a:pPr>
            <a:r>
              <a:t>approve, deploy, refine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280160" y="5010912"/>
            <a:ext cx="9601200" cy="603504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00200" y="5202936"/>
            <a:ext cx="8961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80" b="1">
                <a:solidFill>
                  <a:srgbClr val="F7FBFF"/>
                </a:solidFill>
                <a:latin typeface="Inter"/>
              </a:defRPr>
            </a:pPr>
            <a:r>
              <a:t>Human approval gates govern client-facing sends, publishing, deployments, claims, and commitments.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486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5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7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268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755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4241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0700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64591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93775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58367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595360" y="-1234440"/>
            <a:ext cx="4023360" cy="4023360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-1051560" y="4206240"/>
            <a:ext cx="2834640" cy="283464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PRODUCT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PRODUCT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A Microsoft-native client-work OS.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Teams and Microsoft 365 are the launch surface customers already use, not the company’s ceiling.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400" y="2340864"/>
            <a:ext cx="10149840" cy="68580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70432" y="2523744"/>
            <a:ext cx="18288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50" b="1">
                <a:solidFill>
                  <a:srgbClr val="48E0D0"/>
                </a:solidFill>
                <a:latin typeface="Inter"/>
              </a:defRPr>
            </a:pPr>
            <a:r>
              <a:t>FRONT DOORS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80360" y="2505456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40" b="0">
                <a:solidFill>
                  <a:srgbClr val="F7FBFF"/>
                </a:solidFill>
                <a:latin typeface="Inter"/>
              </a:defRPr>
            </a:pPr>
            <a:r>
              <a:t>Teams messages | M365 Files | Word | email/task surfaces | web/demo UI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4400" y="3163824"/>
            <a:ext cx="10149840" cy="68580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70432" y="3346704"/>
            <a:ext cx="18288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50" b="1">
                <a:solidFill>
                  <a:srgbClr val="48E0D0"/>
                </a:solidFill>
                <a:latin typeface="Inter"/>
              </a:defRPr>
            </a:pPr>
            <a:r>
              <a:t>ORCHESTRATION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80360" y="3328416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40" b="0">
                <a:solidFill>
                  <a:srgbClr val="F7FBFF"/>
                </a:solidFill>
                <a:latin typeface="Inter"/>
              </a:defRPr>
            </a:pPr>
            <a:r>
              <a:t>Nathan | FastAPI/LangGraph | specialist agent registry | readiness checks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4400" y="3986784"/>
            <a:ext cx="10149840" cy="68580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0432" y="4169664"/>
            <a:ext cx="18288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50" b="1">
                <a:solidFill>
                  <a:srgbClr val="48E0D0"/>
                </a:solidFill>
                <a:latin typeface="Inter"/>
              </a:defRPr>
            </a:pPr>
            <a:r>
              <a:t>MEMORY + GOVERNANCE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80360" y="4151376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40" b="0">
                <a:solidFill>
                  <a:srgbClr val="F7FBFF"/>
                </a:solidFill>
                <a:latin typeface="Inter"/>
              </a:defRPr>
            </a:pPr>
            <a:r>
              <a:t>clients | projects | source assets | approval states | agent events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14400" y="4809744"/>
            <a:ext cx="10149840" cy="68580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70432" y="4992624"/>
            <a:ext cx="18288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50" b="1">
                <a:solidFill>
                  <a:srgbClr val="48E0D0"/>
                </a:solidFill>
                <a:latin typeface="Inter"/>
              </a:defRPr>
            </a:pPr>
            <a:r>
              <a:t>OUTPUT SYSTEMS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80360" y="4974336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40" b="0">
                <a:solidFill>
                  <a:srgbClr val="F7FBFF"/>
                </a:solidFill>
                <a:latin typeface="Inter"/>
              </a:defRPr>
            </a:pPr>
            <a:r>
              <a:t>meeting notes | approval packets | campaign sites | dashboards | follow-up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4400" y="5715000"/>
            <a:ext cx="5074920" cy="329184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9" b="1">
                <a:solidFill>
                  <a:srgbClr val="02101C"/>
                </a:solidFill>
                <a:latin typeface="Inter"/>
              </a:defRPr>
            </a:pPr>
            <a:r>
              <a:t>Working proof: routing, memory scaffold, Files outputs, approvals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36208" y="5715000"/>
            <a:ext cx="4846320" cy="329184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9" b="1">
                <a:solidFill>
                  <a:srgbClr val="F7FBFF"/>
                </a:solidFill>
                <a:latin typeface="Inter"/>
              </a:defRPr>
            </a:pPr>
            <a:r>
              <a:t>Roadmap: native Teams audio/video media bridge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486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5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7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268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755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4241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0700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64591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93775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58367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595360" y="-1234440"/>
            <a:ext cx="4023360" cy="40233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-1051560" y="4206240"/>
            <a:ext cx="2834640" cy="283464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WHAT EXISTS NOW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The demo proves the operating loop.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Current proof is specific: workflow infrastructure, seeded pilot artifacts, and approval-aware outputs.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1248" y="2267712"/>
            <a:ext cx="3429000" cy="93268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2416" y="2432304"/>
            <a:ext cx="30266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NATHAN ROUTING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2416" y="2706624"/>
            <a:ext cx="3026664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40" b="0">
                <a:solidFill>
                  <a:srgbClr val="F7FBFF"/>
                </a:solidFill>
                <a:latin typeface="Inter"/>
              </a:defRPr>
            </a:pPr>
            <a:r>
              <a:t>Teams-style messages against project memory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26280" y="2267712"/>
            <a:ext cx="3429000" cy="93268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27448" y="2432304"/>
            <a:ext cx="30266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M365 FILES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27448" y="2706624"/>
            <a:ext cx="3026664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40" b="0">
                <a:solidFill>
                  <a:srgbClr val="F7FBFF"/>
                </a:solidFill>
                <a:latin typeface="Inter"/>
              </a:defRPr>
            </a:pPr>
            <a:r>
              <a:t>meeting notes as .md and .docx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11312" y="2267712"/>
            <a:ext cx="3429000" cy="93268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12480" y="2432304"/>
            <a:ext cx="30266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APPROVALS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0" y="2706624"/>
            <a:ext cx="3026664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40" b="0">
                <a:solidFill>
                  <a:srgbClr val="F7FBFF"/>
                </a:solidFill>
                <a:latin typeface="Inter"/>
              </a:defRPr>
            </a:pPr>
            <a:r>
              <a:t>endpoints and Teams-ready cards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41248" y="3438144"/>
            <a:ext cx="3429000" cy="93268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42416" y="3602736"/>
            <a:ext cx="30266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RAMAIR WORKSPACE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2416" y="3877056"/>
            <a:ext cx="3026664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40" b="0">
                <a:solidFill>
                  <a:srgbClr val="F7FBFF"/>
                </a:solidFill>
                <a:latin typeface="Inter"/>
              </a:defRPr>
            </a:pPr>
            <a:r>
              <a:t>channel model, artifacts, dashboard starter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26280" y="3438144"/>
            <a:ext cx="3429000" cy="93268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27448" y="3602736"/>
            <a:ext cx="30266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AVATAR VALIDATION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27448" y="3877056"/>
            <a:ext cx="3026664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40" b="0">
                <a:solidFill>
                  <a:srgbClr val="F7FBFF"/>
                </a:solidFill>
                <a:latin typeface="Inter"/>
              </a:defRPr>
            </a:pPr>
            <a:r>
              <a:t>provider-hosted Tavus path; native Teams A/V remains roadmap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211312" y="3438144"/>
            <a:ext cx="3429000" cy="93268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12480" y="3602736"/>
            <a:ext cx="30266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READINESS CHECKS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12480" y="3877056"/>
            <a:ext cx="3026664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40" b="0">
                <a:solidFill>
                  <a:srgbClr val="F7FBFF"/>
                </a:solidFill>
                <a:latin typeface="Inter"/>
              </a:defRPr>
            </a:pPr>
            <a:r>
              <a:t>LLM, memory, M365, Teams, avatar, approvals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4128" y="5715000"/>
            <a:ext cx="9966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40" b="0">
                <a:solidFill>
                  <a:srgbClr val="C7D5E8"/>
                </a:solidFill>
                <a:latin typeface="Inter"/>
              </a:defRPr>
            </a:pPr>
            <a:r>
              <a:t>Credibility boundary: do not imply mature SaaS traction or production native Teams media until pilots and media bridge validation prove it.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486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5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7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268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755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4241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0700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64591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93775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58367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595360" y="-1234440"/>
            <a:ext cx="4023360" cy="40233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-1051560" y="4206240"/>
            <a:ext cx="2834640" cy="283464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CASE STUDY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PARLAYVU IN THE FIELD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RamAir turns one weekly podcast into a content engine.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The first client story shows the repeatable pattern: source material becomes governed outputs across channels.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1248" y="2176272"/>
            <a:ext cx="2834640" cy="324612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ramair-david-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176272"/>
            <a:ext cx="2834640" cy="188274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42416" y="4188866"/>
            <a:ext cx="243230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40" b="1">
                <a:solidFill>
                  <a:srgbClr val="48E0D0"/>
                </a:solidFill>
                <a:latin typeface="Inter"/>
              </a:defRPr>
            </a:pPr>
            <a:r>
              <a:t>RAMAIR / RAMAIR.CO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2416" y="4513478"/>
            <a:ext cx="24323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F7FBFF"/>
                </a:solidFill>
                <a:latin typeface="Inter"/>
              </a:defRPr>
            </a:pPr>
            <a:r>
              <a:t>Straight from the Hart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0704" y="4967935"/>
            <a:ext cx="23957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50" b="1">
                <a:solidFill>
                  <a:srgbClr val="C7D5E8"/>
                </a:solidFill>
                <a:latin typeface="Inter"/>
              </a:defRPr>
            </a:pPr>
            <a:r>
              <a:t>Podcast source material becomes a coordinated workspace and distribution cadence.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160520" y="2084831"/>
            <a:ext cx="1783080" cy="87782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61688" y="2249424"/>
            <a:ext cx="13807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61688" y="2523744"/>
            <a:ext cx="1380744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0">
                <a:solidFill>
                  <a:srgbClr val="F7FBFF"/>
                </a:solidFill>
                <a:latin typeface="Inter"/>
              </a:defRPr>
            </a:pPr>
            <a:r>
              <a:t>YouTube + site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27648" y="2084831"/>
            <a:ext cx="1783080" cy="87782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28816" y="2249424"/>
            <a:ext cx="13807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28816" y="2523744"/>
            <a:ext cx="1380744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0">
                <a:solidFill>
                  <a:srgbClr val="F7FBFF"/>
                </a:solidFill>
                <a:latin typeface="Inter"/>
              </a:defRPr>
            </a:pPr>
            <a:r>
              <a:t>Short clips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485632" y="2084831"/>
            <a:ext cx="1783080" cy="87782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86800" y="2249424"/>
            <a:ext cx="13807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0" y="2523744"/>
            <a:ext cx="1380744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0">
                <a:solidFill>
                  <a:srgbClr val="F7FBFF"/>
                </a:solidFill>
                <a:latin typeface="Inter"/>
              </a:defRPr>
            </a:pPr>
            <a:r>
              <a:t>Social posts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160520" y="3456432"/>
            <a:ext cx="1783080" cy="87782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61688" y="3621024"/>
            <a:ext cx="13807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61688" y="3895344"/>
            <a:ext cx="1380744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0">
                <a:solidFill>
                  <a:srgbClr val="F7FBFF"/>
                </a:solidFill>
                <a:latin typeface="Inter"/>
              </a:defRPr>
            </a:pPr>
            <a:r>
              <a:t>Transcript insights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327648" y="3456432"/>
            <a:ext cx="1783080" cy="87782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28816" y="3621024"/>
            <a:ext cx="13807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28816" y="3895344"/>
            <a:ext cx="1380744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0">
                <a:solidFill>
                  <a:srgbClr val="F7FBFF"/>
                </a:solidFill>
                <a:latin typeface="Inter"/>
              </a:defRPr>
            </a:pPr>
            <a:r>
              <a:t>Case studies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485632" y="3456432"/>
            <a:ext cx="1783080" cy="87782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86800" y="3621024"/>
            <a:ext cx="13807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0" y="3895344"/>
            <a:ext cx="1380744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0">
                <a:solidFill>
                  <a:srgbClr val="F7FBFF"/>
                </a:solidFill>
                <a:latin typeface="Inter"/>
              </a:defRPr>
            </a:pPr>
            <a:r>
              <a:t>Sell sheets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251960" y="4956048"/>
            <a:ext cx="6126480" cy="658368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26280" y="5148072"/>
            <a:ext cx="5577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40" b="1">
                <a:solidFill>
                  <a:srgbClr val="C7D5E8"/>
                </a:solidFill>
                <a:latin typeface="Inter"/>
              </a:defRPr>
            </a:pPr>
            <a:r>
              <a:t>Use as pilot proof of a workflow pattern, not broad SaaS traction.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486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5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7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268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755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4241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0700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64591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93775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58367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595360" y="-1234440"/>
            <a:ext cx="4023360" cy="4023360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-1051560" y="4206240"/>
            <a:ext cx="2834640" cy="283464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MARKET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MARKET + MODEL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Start where expertise becomes deliverables.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Founder-led pilots reveal the repeatable workspace subscription modules.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8680" y="2231136"/>
            <a:ext cx="3200400" cy="239572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69848" y="2395728"/>
            <a:ext cx="2798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IDEAL EARLY CUSTOMER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9848" y="2670048"/>
            <a:ext cx="2798064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7FBFF"/>
                </a:solidFill>
                <a:latin typeface="Inter"/>
              </a:defRPr>
            </a:pPr>
            <a:r>
              <a:t>Boutique agencies, consultants, coaches, professional services firms, and expert-led businesses already using Microsoft 365.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498848" y="2231136"/>
            <a:ext cx="3200400" cy="239572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00016" y="2395728"/>
            <a:ext cx="2798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INITIAL PROMISE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00016" y="2670048"/>
            <a:ext cx="2798064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7FBFF"/>
                </a:solidFill>
                <a:latin typeface="Inter"/>
              </a:defRPr>
            </a:pPr>
            <a:r>
              <a:t>Turn client meetings and source material into approved deliverables, updates, and follow-up inside the tools the firm already uses.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19872" y="2231136"/>
            <a:ext cx="3200400" cy="239572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21040" y="2395728"/>
            <a:ext cx="2798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9D7BFF"/>
                </a:solidFill>
                <a:latin typeface="Inter"/>
              </a:defRPr>
            </a:pPr>
            <a:r>
              <a:t>REVENUE PATH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2670048"/>
            <a:ext cx="2798064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7FBFF"/>
                </a:solidFill>
                <a:latin typeface="Inter"/>
              </a:defRPr>
            </a:pPr>
            <a:r>
              <a:t>Pilot setup fee plus monthly subscription by clients/projects, agent seats, integrations, outputs, and premium workflow modules.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" y="5522976"/>
            <a:ext cx="10012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7FBFF"/>
                </a:solidFill>
                <a:latin typeface="Inter"/>
              </a:defRPr>
            </a:pPr>
            <a:r>
              <a:t>Ann Arbor/Michigan is the launch network and credibility base, not the market ceiling.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486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5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7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268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755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4241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0700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64591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93775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58367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595360" y="-1234440"/>
            <a:ext cx="4023360" cy="40233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-1051560" y="4206240"/>
            <a:ext cx="2834640" cy="283464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GTM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GO TO MARKET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Founder-led pilots create the first playbook.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Sell one concrete workflow, measure the outputs, then template the repeatable pieces.</a:t>
            </a:r>
          </a:p>
        </p:txBody>
      </p:sp>
      <p:sp>
        <p:nvSpPr>
          <p:cNvPr id="49" name="Oval 48"/>
          <p:cNvSpPr/>
          <p:nvPr/>
        </p:nvSpPr>
        <p:spPr>
          <a:xfrm>
            <a:off x="1225295" y="2743200"/>
            <a:ext cx="658368" cy="658368"/>
          </a:xfrm>
          <a:prstGeom prst="ellipse">
            <a:avLst/>
          </a:prstGeom>
          <a:solidFill>
            <a:srgbClr val="48E0D0"/>
          </a:solidFill>
          <a:ln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2101C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" y="3639312"/>
            <a:ext cx="2057400" cy="98755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" y="3803904"/>
            <a:ext cx="1655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INTRODUCTIONS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" y="4078224"/>
            <a:ext cx="165506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0" b="0">
                <a:solidFill>
                  <a:srgbClr val="F7FBFF"/>
                </a:solidFill>
                <a:latin typeface="Inter"/>
              </a:defRPr>
            </a:pPr>
            <a:r>
              <a:t>angels, operators, agencies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892808" y="3063240"/>
            <a:ext cx="1033272" cy="0"/>
          </a:xfrm>
          <a:prstGeom prst="line">
            <a:avLst/>
          </a:prstGeom>
          <a:ln w="21590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3529584" y="2743200"/>
            <a:ext cx="658368" cy="658368"/>
          </a:xfrm>
          <a:prstGeom prst="ellipse">
            <a:avLst/>
          </a:prstGeom>
          <a:solidFill>
            <a:srgbClr val="0C2240"/>
          </a:solidFill>
          <a:ln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7FBFF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962656" y="3639312"/>
            <a:ext cx="2057400" cy="98755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63824" y="3803904"/>
            <a:ext cx="1655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RAMAIR-STYLE PILOT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63824" y="4078224"/>
            <a:ext cx="165506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0" b="0">
                <a:solidFill>
                  <a:srgbClr val="F7FBFF"/>
                </a:solidFill>
                <a:latin typeface="Inter"/>
              </a:defRPr>
            </a:pPr>
            <a:r>
              <a:t>one workflow, visible outputs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197096" y="3063240"/>
            <a:ext cx="1033272" cy="0"/>
          </a:xfrm>
          <a:prstGeom prst="line">
            <a:avLst/>
          </a:prstGeom>
          <a:ln w="21590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5833872" y="2743200"/>
            <a:ext cx="658368" cy="658368"/>
          </a:xfrm>
          <a:prstGeom prst="ellipse">
            <a:avLst/>
          </a:prstGeom>
          <a:solidFill>
            <a:srgbClr val="0C2240"/>
          </a:solidFill>
          <a:ln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7FBFF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266944" y="3639312"/>
            <a:ext cx="2057400" cy="98755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68112" y="3803904"/>
            <a:ext cx="1655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PROOF METRICS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68112" y="4078224"/>
            <a:ext cx="165506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0" b="0">
                <a:solidFill>
                  <a:srgbClr val="F7FBFF"/>
                </a:solidFill>
                <a:latin typeface="Inter"/>
              </a:defRPr>
            </a:pPr>
            <a:r>
              <a:t>time saved, output cadence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501383" y="3063240"/>
            <a:ext cx="1033273" cy="0"/>
          </a:xfrm>
          <a:prstGeom prst="line">
            <a:avLst/>
          </a:prstGeom>
          <a:ln w="21590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8138159" y="2743200"/>
            <a:ext cx="658368" cy="658368"/>
          </a:xfrm>
          <a:prstGeom prst="ellipse">
            <a:avLst/>
          </a:prstGeom>
          <a:solidFill>
            <a:srgbClr val="0C2240"/>
          </a:solidFill>
          <a:ln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7FBFF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571231" y="3639312"/>
            <a:ext cx="2057400" cy="98755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72400" y="3803904"/>
            <a:ext cx="1655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TEMPLATES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72400" y="4078224"/>
            <a:ext cx="165506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0" b="0">
                <a:solidFill>
                  <a:srgbClr val="F7FBFF"/>
                </a:solidFill>
                <a:latin typeface="Inter"/>
              </a:defRPr>
            </a:pPr>
            <a:r>
              <a:t>notes, packets, dashboards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8805672" y="3063240"/>
            <a:ext cx="1033272" cy="0"/>
          </a:xfrm>
          <a:prstGeom prst="line">
            <a:avLst/>
          </a:prstGeom>
          <a:ln w="21590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10442447" y="2743200"/>
            <a:ext cx="658368" cy="658368"/>
          </a:xfrm>
          <a:prstGeom prst="ellipse">
            <a:avLst/>
          </a:prstGeom>
          <a:solidFill>
            <a:srgbClr val="0C2240"/>
          </a:solidFill>
          <a:ln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7FBFF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875519" y="3639312"/>
            <a:ext cx="2057400" cy="98755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076688" y="3803904"/>
            <a:ext cx="1655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REFERRALS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76688" y="4078224"/>
            <a:ext cx="165506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0" b="0">
                <a:solidFill>
                  <a:srgbClr val="F7FBFF"/>
                </a:solidFill>
                <a:latin typeface="Inter"/>
              </a:defRPr>
            </a:pPr>
            <a:r>
              <a:t>adjacent firms, same pain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7552" y="5440680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7FBFF"/>
                </a:solidFill>
                <a:latin typeface="Inter"/>
              </a:defRPr>
            </a:pPr>
            <a:r>
              <a:t>3-5 pilots are enough to convert a services-assisted motion into a productized client-workspace package.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486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5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7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268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755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4241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0700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64591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93775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58367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595360" y="-1234440"/>
            <a:ext cx="4023360" cy="40233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-1051560" y="4206240"/>
            <a:ext cx="2834640" cy="283464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DIFFERENTIATION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DIFFERENTIATION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Not another blank chat box.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ParlayVU combines memory, governance, and outputs in the Microsoft workflow where client work already happens.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400" y="2331720"/>
            <a:ext cx="4251960" cy="107899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15568" y="2496312"/>
            <a:ext cx="384962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GENERIC AI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5568" y="2770632"/>
            <a:ext cx="3849624" cy="566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F7FBFF"/>
                </a:solidFill>
                <a:latin typeface="Inter"/>
              </a:defRPr>
            </a:pPr>
            <a:r>
              <a:t>drafts content, but loses workflow context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4400" y="3913632"/>
            <a:ext cx="4251960" cy="107899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15568" y="4078224"/>
            <a:ext cx="384962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CONTENT TOOLS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5568" y="4352544"/>
            <a:ext cx="3849624" cy="566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F7FBFF"/>
                </a:solidFill>
                <a:latin typeface="Inter"/>
              </a:defRPr>
            </a:pPr>
            <a:r>
              <a:t>help make assets, not client operations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46520" y="2331720"/>
            <a:ext cx="4526280" cy="2651760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12280" y="2651760"/>
            <a:ext cx="3840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00" b="1">
                <a:solidFill>
                  <a:srgbClr val="02101C"/>
                </a:solidFill>
                <a:latin typeface="Inter"/>
              </a:defRPr>
            </a:pPr>
            <a:r>
              <a:t>PARLAYVU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84848" y="3035808"/>
            <a:ext cx="3749039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02101C"/>
                </a:solidFill>
                <a:latin typeface="Inter"/>
              </a:defRPr>
            </a:pPr>
            <a:r>
              <a:t>Coordinates client work across memory, agents, approvals, and outputs.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03136" y="4315968"/>
            <a:ext cx="3657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1">
                <a:solidFill>
                  <a:srgbClr val="02101C"/>
                </a:solidFill>
                <a:latin typeface="Inter"/>
              </a:defRPr>
            </a:pPr>
            <a:r>
              <a:t>Teams/M365 is the wedge. The durable value is governed agentic workflow.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779008" y="2148840"/>
            <a:ext cx="0" cy="3172968"/>
          </a:xfrm>
          <a:prstGeom prst="line">
            <a:avLst/>
          </a:prstGeom>
          <a:ln w="2032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486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5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7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268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755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4241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0700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64591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93775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58367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595360" y="-1234440"/>
            <a:ext cx="4023360" cy="4023360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-1051560" y="4206240"/>
            <a:ext cx="2834640" cy="283464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ROADMAP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ROADMAP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90 days to pilot-ready product.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Sequence core workflow hardening before making bigger native media claims.</a:t>
            </a:r>
          </a:p>
        </p:txBody>
      </p:sp>
      <p:sp>
        <p:nvSpPr>
          <p:cNvPr id="49" name="Oval 48"/>
          <p:cNvSpPr/>
          <p:nvPr/>
        </p:nvSpPr>
        <p:spPr>
          <a:xfrm>
            <a:off x="1490472" y="2578608"/>
            <a:ext cx="822960" cy="822960"/>
          </a:xfrm>
          <a:prstGeom prst="ellipse">
            <a:avLst/>
          </a:prstGeom>
          <a:solidFill>
            <a:srgbClr val="48E0D0"/>
          </a:solidFill>
          <a:ln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2101C"/>
                </a:solidFill>
                <a:latin typeface="Inter"/>
              </a:defRPr>
            </a:pPr>
            <a:r>
              <a:t>30 days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8680" y="3730752"/>
            <a:ext cx="2395728" cy="115214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69848" y="3895344"/>
            <a:ext cx="19933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MILESTONE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9848" y="4169664"/>
            <a:ext cx="199339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90" b="0">
                <a:solidFill>
                  <a:srgbClr val="F7FBFF"/>
                </a:solidFill>
                <a:latin typeface="Inter"/>
              </a:defRPr>
            </a:pPr>
            <a:r>
              <a:t>Polish RamAir workspace, notes, approvals, readiness, demo script</a:t>
            </a:r>
          </a:p>
        </p:txBody>
      </p:sp>
      <p:sp>
        <p:nvSpPr>
          <p:cNvPr id="53" name="Oval 52"/>
          <p:cNvSpPr/>
          <p:nvPr/>
        </p:nvSpPr>
        <p:spPr>
          <a:xfrm>
            <a:off x="4233672" y="2578608"/>
            <a:ext cx="822960" cy="822960"/>
          </a:xfrm>
          <a:prstGeom prst="ellipse">
            <a:avLst/>
          </a:prstGeom>
          <a:solidFill>
            <a:srgbClr val="48E0D0"/>
          </a:solidFill>
          <a:ln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2101C"/>
                </a:solidFill>
                <a:latin typeface="Inter"/>
              </a:defRPr>
            </a:pPr>
            <a:r>
              <a:t>60 days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611880" y="3730752"/>
            <a:ext cx="2395728" cy="115214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13048" y="3895344"/>
            <a:ext cx="19933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MILESTONE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13048" y="4169664"/>
            <a:ext cx="199339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90" b="0">
                <a:solidFill>
                  <a:srgbClr val="F7FBFF"/>
                </a:solidFill>
                <a:latin typeface="Inter"/>
              </a:defRPr>
            </a:pPr>
            <a:r>
              <a:t>Package onboarding templates and run 3-5 qualified pilot conversations</a:t>
            </a:r>
          </a:p>
        </p:txBody>
      </p:sp>
      <p:sp>
        <p:nvSpPr>
          <p:cNvPr id="57" name="Oval 56"/>
          <p:cNvSpPr/>
          <p:nvPr/>
        </p:nvSpPr>
        <p:spPr>
          <a:xfrm>
            <a:off x="6976872" y="2578608"/>
            <a:ext cx="822960" cy="822960"/>
          </a:xfrm>
          <a:prstGeom prst="ellipse">
            <a:avLst/>
          </a:prstGeom>
          <a:solidFill>
            <a:srgbClr val="48E0D0"/>
          </a:solidFill>
          <a:ln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2101C"/>
                </a:solidFill>
                <a:latin typeface="Inter"/>
              </a:defRPr>
            </a:pPr>
            <a:r>
              <a:t>90 days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55080" y="3730752"/>
            <a:ext cx="2395728" cy="115214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56248" y="3895344"/>
            <a:ext cx="19933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MILESTONE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56248" y="4169664"/>
            <a:ext cx="199339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90" b="0">
                <a:solidFill>
                  <a:srgbClr val="F7FBFF"/>
                </a:solidFill>
                <a:latin typeface="Inter"/>
              </a:defRPr>
            </a:pPr>
            <a:r>
              <a:t>Paid pilots or LOIs, measurable outputs, pricing and module clarity</a:t>
            </a:r>
          </a:p>
        </p:txBody>
      </p:sp>
      <p:sp>
        <p:nvSpPr>
          <p:cNvPr id="61" name="Oval 60"/>
          <p:cNvSpPr/>
          <p:nvPr/>
        </p:nvSpPr>
        <p:spPr>
          <a:xfrm>
            <a:off x="9720072" y="2578608"/>
            <a:ext cx="822960" cy="822960"/>
          </a:xfrm>
          <a:prstGeom prst="ellipse">
            <a:avLst/>
          </a:prstGeom>
          <a:solidFill>
            <a:srgbClr val="0C2240"/>
          </a:solidFill>
          <a:ln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7FBFF"/>
                </a:solidFill>
                <a:latin typeface="Inter"/>
              </a:defRPr>
            </a:pPr>
            <a:r>
              <a:t>Later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098280" y="3730752"/>
            <a:ext cx="2395728" cy="115214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99448" y="3895344"/>
            <a:ext cx="19933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MILESTONE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99448" y="4169664"/>
            <a:ext cx="199339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90" b="0">
                <a:solidFill>
                  <a:srgbClr val="F7FBFF"/>
                </a:solidFill>
                <a:latin typeface="Inter"/>
              </a:defRPr>
            </a:pPr>
            <a:r>
              <a:t>Validate native Teams roster/media bridge after Graph and provider terms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682496" y="2990088"/>
            <a:ext cx="8238744" cy="0"/>
          </a:xfrm>
          <a:prstGeom prst="line">
            <a:avLst/>
          </a:prstGeom>
          <a:ln w="25400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486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5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7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268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755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4241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0700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64591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93775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58367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595360" y="-1234440"/>
            <a:ext cx="4023360" cy="40233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-1051560" y="4206240"/>
            <a:ext cx="2834640" cy="283464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ASK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ASK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Raising $100k-$300k to turn proof into revenue.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Capital plus pilot/customer introductions are equally valuable at this stage.</a:t>
            </a:r>
          </a:p>
        </p:txBody>
      </p:sp>
      <p:sp>
        <p:nvSpPr>
          <p:cNvPr id="49" name="Oval 48"/>
          <p:cNvSpPr/>
          <p:nvPr/>
        </p:nvSpPr>
        <p:spPr>
          <a:xfrm>
            <a:off x="896112" y="2304288"/>
            <a:ext cx="2029968" cy="2029968"/>
          </a:xfrm>
          <a:prstGeom prst="ellipse">
            <a:avLst/>
          </a:prstGeom>
          <a:solidFill>
            <a:srgbClr val="48E0D0"/>
          </a:solidFill>
          <a:ln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2101C"/>
                </a:solidFill>
                <a:latin typeface="Inter"/>
              </a:defRPr>
            </a:pPr>
            <a:r>
              <a:t>$100k</a:t>
            </a:r>
            <a:br/>
            <a:r>
              <a:t>-</a:t>
            </a:r>
            <a:br/>
            <a:r>
              <a:t>$300k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703320" y="2084831"/>
            <a:ext cx="2139696" cy="45720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7FBFF"/>
                </a:solidFill>
                <a:latin typeface="Inter"/>
              </a:defRPr>
            </a:pPr>
            <a:r>
              <a:t>Product hardening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27648" y="2084831"/>
            <a:ext cx="2139696" cy="45720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7FBFF"/>
                </a:solidFill>
                <a:latin typeface="Inter"/>
              </a:defRPr>
            </a:pPr>
            <a:r>
              <a:t>Pilot delivery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42832" y="2084831"/>
            <a:ext cx="2139696" cy="45720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7FBFF"/>
                </a:solidFill>
                <a:latin typeface="Inter"/>
              </a:defRPr>
            </a:pPr>
            <a:r>
              <a:t>M365 / Teams integration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703320" y="3703320"/>
            <a:ext cx="2139696" cy="45720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7FBFF"/>
                </a:solidFill>
                <a:latin typeface="Inter"/>
              </a:defRPr>
            </a:pPr>
            <a:r>
              <a:t>Avatar validation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27648" y="3703320"/>
            <a:ext cx="2139696" cy="45720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7FBFF"/>
                </a:solidFill>
                <a:latin typeface="Inter"/>
              </a:defRPr>
            </a:pPr>
            <a:r>
              <a:t>Design + pitch assets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942832" y="3703320"/>
            <a:ext cx="2139696" cy="45720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7FBFF"/>
                </a:solidFill>
                <a:latin typeface="Inter"/>
              </a:defRPr>
            </a:pPr>
            <a:r>
              <a:t>Founder-led GTM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05840" y="5321808"/>
            <a:ext cx="10058400" cy="566928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80160" y="5504688"/>
            <a:ext cx="9491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1">
                <a:solidFill>
                  <a:srgbClr val="F7FBFF"/>
                </a:solidFill>
                <a:latin typeface="Inter"/>
              </a:defRPr>
            </a:pPr>
            <a:r>
              <a:t>Target: RamAir polished, 3-5 qualified pilots active, first paid pilots or signed LOIs within 90 days of funding.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486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5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7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268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75519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42416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070080" y="0"/>
            <a:ext cx="0" cy="685800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164591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93775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6583679"/>
            <a:ext cx="12191695" cy="0"/>
          </a:xfrm>
          <a:prstGeom prst="line">
            <a:avLst/>
          </a:prstGeom>
          <a:ln w="508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595360" y="-1234440"/>
            <a:ext cx="4023360" cy="40233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-1051560" y="4206240"/>
            <a:ext cx="2834640" cy="283464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START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1234440"/>
            <a:ext cx="786384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4000" b="1">
                <a:solidFill>
                  <a:srgbClr val="F7FBFF"/>
                </a:solidFill>
                <a:latin typeface="Inter"/>
              </a:defRPr>
            </a:pPr>
            <a:r>
              <a:t>VU is your brand.</a:t>
            </a:r>
            <a:br/>
            <a:r>
              <a:t>Parlay your VU.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" y="2971800"/>
            <a:ext cx="5349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20" b="0">
                <a:solidFill>
                  <a:srgbClr val="C7D5E8"/>
                </a:solidFill>
                <a:latin typeface="Inter"/>
              </a:defRPr>
            </a:pPr>
            <a:r>
              <a:t>ParlayVU turns every client interaction into approved work, reusable memory, and distribution-ready output.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040880" y="2011680"/>
            <a:ext cx="3566160" cy="224028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88352" y="2423160"/>
            <a:ext cx="2852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F7FBFF"/>
                </a:solidFill>
                <a:latin typeface="Inter"/>
              </a:defRPr>
            </a:pPr>
            <a:r>
              <a:t>Investor asks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43800" y="3063240"/>
            <a:ext cx="2560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20" b="0">
                <a:solidFill>
                  <a:srgbClr val="C7D5E8"/>
                </a:solidFill>
                <a:latin typeface="Inter"/>
              </a:defRPr>
            </a:pPr>
            <a:r>
              <a:t>Small checks</a:t>
            </a:r>
            <a:br/>
            <a:r>
              <a:t>Pilot introductions</a:t>
            </a:r>
            <a:br/>
            <a:r>
              <a:t>Microsoft 365 operator/customer intros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17536" y="4553712"/>
            <a:ext cx="2176272" cy="347472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9" b="1">
                <a:solidFill>
                  <a:srgbClr val="02101C"/>
                </a:solidFill>
                <a:latin typeface="Inter"/>
              </a:defRPr>
            </a:pPr>
            <a:r>
              <a:t>Book a strategy call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