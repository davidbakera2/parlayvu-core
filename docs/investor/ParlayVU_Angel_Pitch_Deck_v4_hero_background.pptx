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aker" userId="488f122d-72cc-4670-ae96-4ea2a6611a9b" providerId="ADAL" clId="{7F09B3E0-E943-42C4-8942-72E4410BAC3B}"/>
    <pc:docChg chg="custSel modSld">
      <pc:chgData name="David Baker" userId="488f122d-72cc-4670-ae96-4ea2a6611a9b" providerId="ADAL" clId="{7F09B3E0-E943-42C4-8942-72E4410BAC3B}" dt="2026-05-19T11:04:50.969" v="43" actId="1076"/>
      <pc:docMkLst>
        <pc:docMk/>
      </pc:docMkLst>
      <pc:sldChg chg="delSp modSp mod">
        <pc:chgData name="David Baker" userId="488f122d-72cc-4670-ae96-4ea2a6611a9b" providerId="ADAL" clId="{7F09B3E0-E943-42C4-8942-72E4410BAC3B}" dt="2026-05-19T11:04:50.969" v="43" actId="1076"/>
        <pc:sldMkLst>
          <pc:docMk/>
          <pc:sldMk cId="0" sldId="261"/>
        </pc:sldMkLst>
        <pc:spChg chg="mod">
          <ac:chgData name="David Baker" userId="488f122d-72cc-4670-ae96-4ea2a6611a9b" providerId="ADAL" clId="{7F09B3E0-E943-42C4-8942-72E4410BAC3B}" dt="2026-05-19T11:04:30.435" v="38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1:04:47.919" v="42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1:04:50.969" v="43" actId="1076"/>
          <ac:spMkLst>
            <pc:docMk/>
            <pc:sldMk cId="0" sldId="261"/>
            <ac:spMk id="17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43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49" creationId="{00000000-0000-0000-0000-000000000000}"/>
          </ac:spMkLst>
        </pc:spChg>
        <pc:picChg chg="mod">
          <ac:chgData name="David Baker" userId="488f122d-72cc-4670-ae96-4ea2a6611a9b" providerId="ADAL" clId="{7F09B3E0-E943-42C4-8942-72E4410BAC3B}" dt="2026-05-19T11:04:23.977" v="36" actId="14100"/>
          <ac:picMkLst>
            <pc:docMk/>
            <pc:sldMk cId="0" sldId="261"/>
            <ac:picMk id="14" creationId="{00000000-0000-0000-0000-000000000000}"/>
          </ac:picMkLst>
        </pc:picChg>
        <pc:cxnChg chg="del">
          <ac:chgData name="David Baker" userId="488f122d-72cc-4670-ae96-4ea2a6611a9b" providerId="ADAL" clId="{7F09B3E0-E943-42C4-8942-72E4410BAC3B}" dt="2026-05-19T11:03:57.361" v="0" actId="478"/>
          <ac:cxnSpMkLst>
            <pc:docMk/>
            <pc:sldMk cId="0" sldId="261"/>
            <ac:cxnSpMk id="18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3:58.486" v="1" actId="478"/>
          <ac:cxnSpMkLst>
            <pc:docMk/>
            <pc:sldMk cId="0" sldId="261"/>
            <ac:cxnSpMk id="24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3:59.361" v="2" actId="478"/>
          <ac:cxnSpMkLst>
            <pc:docMk/>
            <pc:sldMk cId="0" sldId="261"/>
            <ac:cxnSpMk id="30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2.062" v="5" actId="478"/>
          <ac:cxnSpMkLst>
            <pc:docMk/>
            <pc:sldMk cId="0" sldId="261"/>
            <ac:cxnSpMk id="36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1.207" v="4" actId="478"/>
          <ac:cxnSpMkLst>
            <pc:docMk/>
            <pc:sldMk cId="0" sldId="261"/>
            <ac:cxnSpMk id="42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0.420" v="3" actId="478"/>
          <ac:cxnSpMkLst>
            <pc:docMk/>
            <pc:sldMk cId="0" sldId="261"/>
            <ac:cxnSpMk id="48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jp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parlayvu_hero_background.png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3.jp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parlayvu_hero_background.png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8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10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1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1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4048" y="5148072"/>
            <a:ext cx="249631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5257800"/>
            <a:ext cx="36850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5367528"/>
            <a:ext cx="523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0859" y="5193792"/>
            <a:ext cx="65379" cy="65379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ANGEL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ANGEL / PRE-SEED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AI digital workers for client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turns meetings, source material, approvals, and follow-up into an operating system for expert firms.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03320"/>
            <a:ext cx="1572768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$100k-$300k raise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7168" y="3703320"/>
            <a:ext cx="201168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Teams/M365 beachhead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3703320"/>
            <a:ext cx="16459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RamAir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115568"/>
            <a:ext cx="3337560" cy="318211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Nat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15568"/>
            <a:ext cx="3337560" cy="1845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0648" y="3088477"/>
            <a:ext cx="293522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LEAD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3406688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Nathan Ellis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852184"/>
            <a:ext cx="2898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Coordinates strategy, agent routing, approval gates, and final delivery.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16636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7FBFF"/>
                </a:solidFill>
                <a:latin typeface="Inter"/>
              </a:defRPr>
            </a:pPr>
            <a:r>
              <a:t>VU is your brand. Parlay your VU.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280" y="393192"/>
            <a:ext cx="34564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1280" y="502920"/>
            <a:ext cx="510235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41280" y="612647"/>
            <a:ext cx="7242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98403" y="484632"/>
            <a:ext cx="90525" cy="90525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Client work leaks margin after every call.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Generic AI drafts assets. Expert firms still need the whole workflow coordinated.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2514600"/>
            <a:ext cx="21122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1768" y="2624328"/>
            <a:ext cx="31181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1768" y="2734056"/>
            <a:ext cx="44256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64454" y="2542032"/>
            <a:ext cx="55321" cy="55321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74920" y="2871216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111496" y="2907792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21224" y="2852928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Meetings</a:t>
            </a:r>
          </a:p>
        </p:txBody>
      </p:sp>
      <p:sp>
        <p:nvSpPr>
          <p:cNvPr id="24" name="Oval 23"/>
          <p:cNvSpPr/>
          <p:nvPr/>
        </p:nvSpPr>
        <p:spPr>
          <a:xfrm>
            <a:off x="5074920" y="3218688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111496" y="3255264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21224" y="3200400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Memory</a:t>
            </a:r>
          </a:p>
        </p:txBody>
      </p:sp>
      <p:sp>
        <p:nvSpPr>
          <p:cNvPr id="27" name="Oval 26"/>
          <p:cNvSpPr/>
          <p:nvPr/>
        </p:nvSpPr>
        <p:spPr>
          <a:xfrm>
            <a:off x="5074920" y="3566160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5111496" y="3602736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21224" y="3547872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913632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1224" y="3895344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4059936"/>
            <a:ext cx="12344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20" b="1">
                <a:solidFill>
                  <a:srgbClr val="9D7BFF"/>
                </a:solidFill>
                <a:latin typeface="Inter"/>
              </a:defRPr>
            </a:pPr>
            <a:r>
              <a:t>CLIENT CALL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44768" y="2907792"/>
            <a:ext cx="301752" cy="0"/>
          </a:xfrm>
          <a:prstGeom prst="line">
            <a:avLst/>
          </a:prstGeom>
          <a:ln w="1270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39830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69161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4400" y="182880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5568" y="19933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226771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transcripts, recaps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920240" y="2249424"/>
            <a:ext cx="3886200" cy="996696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298948" y="308536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345435" y="232787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188720" y="431596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89888" y="44805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4754879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owners, deadlines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2194560" y="3246120"/>
            <a:ext cx="3611880" cy="149047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331866" y="338382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586837" y="451658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383280" y="1170432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84448" y="1335024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160934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source material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4389120" y="1591056"/>
            <a:ext cx="1417320" cy="165506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595213" y="3006364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518050" y="1748515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703320" y="49834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04487" y="51480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4487" y="54223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claims, sends, deploys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4709160" y="3246120"/>
            <a:ext cx="1097280" cy="21579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633618" y="3463930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799685" y="510399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498079" y="47548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99248" y="49194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REPORTING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248" y="51937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dashboards, updates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06440" y="3246120"/>
            <a:ext cx="2697479" cy="19293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088989" y="343649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139074" y="490282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144000" y="285292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45168" y="3017520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5168" y="329184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posts, pages, emails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806440" y="3246120"/>
            <a:ext cx="4343400" cy="2743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286500" y="3208263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587484" y="3229112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882127" y="129844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83296" y="146303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FOLLOW-UP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83296" y="173736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client-ready next steps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5806440" y="1719072"/>
            <a:ext cx="3081527" cy="1527048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135075" y="3021726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477036" y="186116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43000" y="589788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F7FBFF"/>
                </a:solidFill>
                <a:latin typeface="Inter"/>
              </a:defRPr>
            </a:pPr>
            <a:r>
              <a:t>The buyer pain is not one prompt. It is memory, routing, governance, and repeatable delivery.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Nathan runs the client workflow from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A front-door orchestrator routes work to specialist agents, grounds it in project memory, and keeps approvals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288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42519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441448"/>
            <a:ext cx="6035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2286000"/>
            <a:ext cx="75438" cy="7543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Brief Intake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audience, source,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64991" y="3529584"/>
            <a:ext cx="164593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43595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68684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529584" y="2816352"/>
            <a:ext cx="2542032" cy="142646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94176" y="2944368"/>
            <a:ext cx="274320" cy="274320"/>
          </a:xfrm>
          <a:prstGeom prst="roundRect">
            <a:avLst/>
          </a:prstGeom>
          <a:solidFill>
            <a:srgbClr val="02101C"/>
          </a:solidFill>
          <a:ln w="10795">
            <a:solidFill>
              <a:srgbClr val="02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2101C"/>
                </a:solidFill>
                <a:latin typeface="Inter"/>
              </a:defRPr>
            </a:pPr>
            <a:r>
              <a:t>Agent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1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02101C"/>
                </a:solidFill>
                <a:latin typeface="Inter"/>
              </a:defRPr>
            </a:pPr>
            <a:r>
              <a:t>right specialist, visible handoff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44768" y="3529584"/>
            <a:ext cx="164592" cy="0"/>
          </a:xfrm>
          <a:prstGeom prst="line">
            <a:avLst/>
          </a:prstGeom>
          <a:ln w="17145">
            <a:solidFill>
              <a:srgbClr val="0210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123371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48460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9360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73952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Asset Factory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notes, sites, emails, dashboards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24544" y="3529584"/>
            <a:ext cx="164592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03147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28236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89136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53728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Launch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approve, deploy, refine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5010912"/>
            <a:ext cx="9601200" cy="603504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00200" y="5202936"/>
            <a:ext cx="8961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80" b="1">
                <a:solidFill>
                  <a:srgbClr val="F7FBFF"/>
                </a:solidFill>
                <a:latin typeface="Inter"/>
              </a:defRPr>
            </a:pPr>
            <a:r>
              <a:t>Human approval gates govern client-facing sends, publishing, deployments, claims, and commitments.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 Microsoft-native client-work 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Teams and Microsoft 365 are the launch surface customers already use, not the company’s ceiling.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4086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252374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FRONT 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0545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Teams messages | M365 Files | Word | email/task surfaces | web/demo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6382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334670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32841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Nathan | FastAPI/LangGraph | specialist agent registry | readiness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8678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416966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MEMORY +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15137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clients | projects | source assets | approval states | agent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974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99262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OUTPUT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97433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meeting notes | approval packets | campaign sites | dashboards |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15000"/>
            <a:ext cx="5074920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5715000"/>
            <a:ext cx="48463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Roadmap: native Teams audio/video media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WHAT EXISTS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The demo proves the operating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Current proof is specific: workflow infrastructure, seeded pilot artifacts, and approval-aware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NATHAN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Teams-style messages against project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M365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meeting notes as .md and .docx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endpoints and Teams-ready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channel model, artifacts, dashboard starter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provider-hosted Tavus path; native Teams A/V remains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READINESS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LLM, memory, M365, Teams, avatar, approvals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715000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40" b="0">
                <a:solidFill>
                  <a:srgbClr val="C7D5E8"/>
                </a:solidFill>
                <a:latin typeface="Inter"/>
              </a:defRPr>
            </a:pPr>
            <a:r>
              <a:t>Credibility boundary: do not imply mature SaaS traction or production native Teams media until pilots and media bridge validation prove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PARLAYVU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RamAir turns one weekly podcast into a content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The first client story shows the repeatable pattern: source material becomes governed outputs across channels.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37560"/>
            <a:ext cx="2834640" cy="25786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amair-david-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6272"/>
            <a:ext cx="2834640" cy="2715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4188866"/>
            <a:ext cx="243230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rPr dirty="0"/>
              <a:t>RAMAIR / RAMAIR.CO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97526"/>
            <a:ext cx="243230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rPr sz="1600" dirty="0"/>
              <a:t>Straight from the</a:t>
            </a:r>
            <a:r>
              <a:rPr lang="en-US" sz="1600" dirty="0"/>
              <a:t> </a:t>
            </a:r>
            <a:r>
              <a:rPr sz="1600" dirty="0"/>
              <a:t>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55971"/>
            <a:ext cx="23957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rPr dirty="0"/>
              <a:t>Podcast source material becomes a coordinated workspace and distribution cadence.</a:t>
            </a:r>
          </a:p>
        </p:txBody>
      </p:sp>
      <p:sp>
        <p:nvSpPr>
          <p:cNvPr id="20" name="Oval 19"/>
          <p:cNvSpPr/>
          <p:nvPr/>
        </p:nvSpPr>
        <p:spPr>
          <a:xfrm>
            <a:off x="4849794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0520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YouTube + site</a:t>
            </a:r>
          </a:p>
        </p:txBody>
      </p:sp>
      <p:sp>
        <p:nvSpPr>
          <p:cNvPr id="26" name="Oval 25"/>
          <p:cNvSpPr/>
          <p:nvPr/>
        </p:nvSpPr>
        <p:spPr>
          <a:xfrm>
            <a:off x="6756867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7648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Short clips</a:t>
            </a:r>
          </a:p>
        </p:txBody>
      </p:sp>
      <p:sp>
        <p:nvSpPr>
          <p:cNvPr id="32" name="Oval 31"/>
          <p:cNvSpPr/>
          <p:nvPr/>
        </p:nvSpPr>
        <p:spPr>
          <a:xfrm>
            <a:off x="8655893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85632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Social posts</a:t>
            </a:r>
          </a:p>
        </p:txBody>
      </p:sp>
      <p:sp>
        <p:nvSpPr>
          <p:cNvPr id="38" name="Oval 37"/>
          <p:cNvSpPr/>
          <p:nvPr/>
        </p:nvSpPr>
        <p:spPr>
          <a:xfrm>
            <a:off x="4849794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60520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Transcript insights</a:t>
            </a:r>
          </a:p>
        </p:txBody>
      </p:sp>
      <p:sp>
        <p:nvSpPr>
          <p:cNvPr id="44" name="Oval 43"/>
          <p:cNvSpPr/>
          <p:nvPr/>
        </p:nvSpPr>
        <p:spPr>
          <a:xfrm>
            <a:off x="6756867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27648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28816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50" name="Oval 49"/>
          <p:cNvSpPr/>
          <p:nvPr/>
        </p:nvSpPr>
        <p:spPr>
          <a:xfrm>
            <a:off x="8655893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485632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Sell sheets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1960" y="4956048"/>
            <a:ext cx="6126480" cy="65836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26280" y="5148072"/>
            <a:ext cx="5577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40" b="1">
                <a:solidFill>
                  <a:srgbClr val="C7D5E8"/>
                </a:solidFill>
                <a:latin typeface="Inter"/>
              </a:defRPr>
            </a:pPr>
            <a:r>
              <a:t>Use as pilot proof of a workflow pattern, not broad SaaS traction.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MARKET +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Start where expertise becomes deliverables.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Founder-led pilots reveal the repeatable workspace subscription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IDEAL EARLY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Boutique agencies, consultants, coaches, professional services firms, and expert-led businesses already using Microsoft 365.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INITIAL 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Turn client meetings and source material into approved deliverables, updates, and follow-up inside the tools the firm already uses.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9D7BFF"/>
                </a:solidFill>
                <a:latin typeface="Inter"/>
              </a:defRPr>
            </a:pPr>
            <a:r>
              <a:t>REVENUE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Pilot setup fee plus monthly subscription by clients/projects, agent seats, integrations, outputs, and premium workflow modules.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22976"/>
            <a:ext cx="10012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FBFF"/>
                </a:solidFill>
                <a:latin typeface="Inter"/>
              </a:defRPr>
            </a:pPr>
            <a:r>
              <a:t>Ann Arbor/Michigan is the launch network and credibility base, not the market ceiling.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GTM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GO TO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Founder-led pilots create the first playbook.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Sell one concrete workflow, measure the outputs, then template the repeatable pieces.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99616" y="2359152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2101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INTRODUCTIONS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angels, operators, agencies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28386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95173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03904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2656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63824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RAMAIR-STYLE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one workflow, visible outputs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032674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199461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08192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6944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68112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PROOF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time saved, output cadence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51775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36962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03749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0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1231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0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TEMPLATES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notes, packets, dashboards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56063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641250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808037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716767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19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76688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REFERRALS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adjacent firms, same pain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7FBFF"/>
                </a:solidFill>
                <a:latin typeface="Inter"/>
              </a:defRPr>
            </a:pPr>
            <a:r>
              <a:t>3-5 pilots are enough to convert a services-assisted motion into a productized client-workspace package.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Not another blank chat 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combines memory, governance, and outputs in the Microsoft workflow where client work already happens.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31720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496312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GENERIC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70632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drafts content, but loses workflow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13632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078224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352544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help make assets, not client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331720"/>
            <a:ext cx="4526280" cy="265176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65176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02101C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35808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101C"/>
                </a:solidFill>
                <a:latin typeface="Inter"/>
              </a:defRPr>
            </a:pPr>
            <a:r>
              <a:t>Coordinates client work across memory, agents, approvals, and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31596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1">
                <a:solidFill>
                  <a:srgbClr val="02101C"/>
                </a:solidFill>
                <a:latin typeface="Inter"/>
              </a:defRPr>
            </a:pPr>
            <a:r>
              <a:t>Teams/M365 is the wedge. The durable value is governed agentic workflow.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79008" y="2148840"/>
            <a:ext cx="0" cy="3172968"/>
          </a:xfrm>
          <a:prstGeom prst="line">
            <a:avLst/>
          </a:prstGeom>
          <a:ln w="2032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90 days to pilot-ready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Sequence core workflow hardening before making bigger native media claims.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2907792"/>
            <a:ext cx="9326880" cy="0"/>
          </a:xfrm>
          <a:prstGeom prst="line">
            <a:avLst/>
          </a:prstGeom>
          <a:ln w="1587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435607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Polish RamAir workspace, notes, approvals, readiness, demo script</a:t>
            </a:r>
          </a:p>
        </p:txBody>
      </p:sp>
      <p:sp>
        <p:nvSpPr>
          <p:cNvPr id="18" name="Oval 17"/>
          <p:cNvSpPr/>
          <p:nvPr/>
        </p:nvSpPr>
        <p:spPr>
          <a:xfrm>
            <a:off x="41788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118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130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60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Package onboarding templates and run 3-5 qualified pilot conversations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9220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Paid pilots or LOIs, measurable outputs, pricing and module clarity</a:t>
            </a:r>
          </a:p>
        </p:txBody>
      </p:sp>
      <p:sp>
        <p:nvSpPr>
          <p:cNvPr id="26" name="Oval 25"/>
          <p:cNvSpPr/>
          <p:nvPr/>
        </p:nvSpPr>
        <p:spPr>
          <a:xfrm>
            <a:off x="9665207" y="2871216"/>
            <a:ext cx="91440" cy="914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82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994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Validate native Teams roster/media bridge after Graph and provider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Raising $100k-$300k to turn proof into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Capital plus pilot/customer introductions are equally valuable at this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176272"/>
            <a:ext cx="2606040" cy="123444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30428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2101C"/>
                </a:solidFill>
                <a:latin typeface="Inter"/>
              </a:defRPr>
            </a:pPr>
            <a:r>
              <a:t>$100k–$300k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706624"/>
            <a:ext cx="2276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02101C"/>
                </a:solidFill>
                <a:latin typeface="Inter"/>
              </a:defRPr>
            </a:pPr>
            <a:r>
              <a:t>Angel / pre-seed raise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4736592"/>
            <a:ext cx="26883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04120" y="4846320"/>
            <a:ext cx="39684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04120" y="4956048"/>
            <a:ext cx="56327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92993" y="4791455"/>
            <a:ext cx="70408" cy="7040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03320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Product hardening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Pilot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M365 / Teams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Design + pitch assets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Founder-led GTM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321808"/>
            <a:ext cx="10058400" cy="56692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5504688"/>
            <a:ext cx="9491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1">
                <a:solidFill>
                  <a:srgbClr val="F7FBFF"/>
                </a:solidFill>
                <a:latin typeface="Inter"/>
              </a:defRPr>
            </a:pPr>
            <a:r>
              <a:t>Target: RamAir polished, 3-5 qualified pilots active, first paid pilots or signed LOIs within 90 days of funding.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234440"/>
            <a:ext cx="786384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F7FBFF"/>
                </a:solidFill>
                <a:latin typeface="Inter"/>
              </a:defRPr>
            </a:pPr>
            <a:r>
              <a:t>VU is your brand.</a:t>
            </a:r>
            <a:br/>
            <a:r>
              <a:t>Parlay your VU.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71800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20" b="0">
                <a:solidFill>
                  <a:srgbClr val="C7D5E8"/>
                </a:solidFill>
                <a:latin typeface="Inter"/>
              </a:defRPr>
            </a:pPr>
            <a:r>
              <a:t>ParlayVU turns every client interaction into approved work, reusable memory, and distribution-ready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011680"/>
            <a:ext cx="3566160" cy="224028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423160"/>
            <a:ext cx="2852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7FBFF"/>
                </a:solidFill>
                <a:latin typeface="Inter"/>
              </a:defRPr>
            </a:pPr>
            <a:r>
              <a:t>Investor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632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0">
                <a:solidFill>
                  <a:srgbClr val="C7D5E8"/>
                </a:solidFill>
                <a:latin typeface="Inter"/>
              </a:defRPr>
            </a:pPr>
            <a:r>
              <a:t>Small checks</a:t>
            </a:r>
            <a:br/>
            <a:r>
              <a:t>Pilot introductions</a:t>
            </a:r>
            <a:br/>
            <a:r>
              <a:t>Microsoft 365 operator/customer intros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4553712"/>
            <a:ext cx="2176272" cy="347472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Book a strategy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1069</Words>
  <Application>Microsoft Office PowerPoint</Application>
  <PresentationFormat>Widescreen</PresentationFormat>
  <Paragraphs>236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Baker</cp:lastModifiedBy>
  <cp:revision>1</cp:revision>
  <dcterms:created xsi:type="dcterms:W3CDTF">2013-01-27T09:14:16Z</dcterms:created>
  <dcterms:modified xsi:type="dcterms:W3CDTF">2026-05-19T11:04:53Z</dcterms:modified>
  <cp:category/>
</cp:coreProperties>
</file>